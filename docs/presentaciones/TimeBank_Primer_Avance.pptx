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8cdff5a-423f-8de1-5dee-71b342bd0c4f}">
          <p14:sldIdLst>
            <p14:sldId id="256"/>
          </p14:sldIdLst>
        </p14:section>
        <p14:section name="Proyecto" id="{9257a1a3-6ad1-436c-1938-8202e2bc4547}">
          <p14:sldIdLst>
            <p14:sldId id="257"/>
            <p14:sldId id="258"/>
          </p14:sldIdLst>
        </p14:section>
        <p14:section name="Arquitectura" id="{dce3c1b7-7192-662d-76b7-6edcf450a50c}">
          <p14:sldIdLst>
            <p14:sldId id="259"/>
            <p14:sldId id="260"/>
          </p14:sldIdLst>
        </p14:section>
        <p14:section name="Desarrollo" id="{b4742fa4-d529-310d-e91e-ccbc638223a8}">
          <p14:sldIdLst>
            <p14:sldId id="261"/>
            <p14:sldId id="262"/>
            <p14:sldId id="263"/>
            <p14:sldId id="264"/>
          </p14:sldIdLst>
        </p14:section>
        <p14:section name="Cierre" id="{31cd931d-53ec-dcc9-09a2-56efe91e774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presenta al grupo y el nombre del proyecto. TimeBank es un banco de tiempo: en lugar de dinero, las personas intercambian horas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explica el problema y la idea. Una hora de ayuda vale lo mismo para todos, sin importar el tipo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resume los cuatro entregables del primer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la petición viaja de izquierda a derecha. El controlador recibe el JSON, el servicio aplica las reglas y EF Core traduce a SQL para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seis entidades principales. Un usuario ofrece servicios; otro los pide con una solicitud; al completarse se crea la transacción de horas y se puede dejar una valoración.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muestra en pgAdmin que las tablas existen y tienen datos. Consulta: SELECT * FROM "Categories";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demostración en Postman. Crear una categoría (201), listarla (200), editarla (204) y pedir un id que no existe (404).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estas reglas viven en la capa Services. Se comprobaron con el script tests/probar-api.ps1.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Kevin: cada avance queda marcado con una etiqueta. Este avance corresponde a v3.0.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Eloy: cierra con lo que viene y abre espacio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6455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/tmp/claude-0/-home-claude/9fbcf92b-c261-5d9a-bebc-b0ad23150f66/scratchpad/deck/itq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0" cy="64028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600200"/>
            <a:ext cx="6675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611880"/>
            <a:ext cx="6675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48640" y="4800600"/>
            <a:ext cx="66751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fbcf92b-c261-5d9a-bebc-b0ad23150f66/scratchpad/deck/itq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011680" cy="440193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b="1" spc="200" kern="0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fbcf92b-c261-5d9a-bebc-b0ad23150f66/scratchpad/deck/itq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926080" cy="6402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7315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drianlxcid/TimeBank/tree/v3.0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16002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PROYECTO FINAL · PRIMER AVANCE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TimeBank</a:t>
            </a:r>
            <a:endParaRPr lang="en-US" sz="4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Banco de tiempo: estructura, base de datos y CRUD de la API</a:t>
            </a:r>
            <a:endParaRPr lang="en-US" sz="20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48640" y="48006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Kevin Adrián Quiñonez Rocha · Orlando Eloy Trujillo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Ambientes Computacionales · Desarrollo de Software · 4.º nivel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Docente: Ing. Eldis Gabriel Nicolalde Navarrete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Quito, 29 de septiembre de 2026</a:t>
            </a:r>
            <a:endParaRPr lang="en-US" sz="1400" dirty="0"/>
          </a:p>
        </p:txBody>
      </p:sp>
      <p:sp>
        <p:nvSpPr>
          <p:cNvPr id="6" name="Lema 1 h = 1 h"/>
          <p:cNvSpPr txBox="1"/>
          <p:nvPr/>
        </p:nvSpPr>
        <p:spPr>
          <a:xfrm>
            <a:off x="7635240" y="822960"/>
            <a:ext cx="455371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4"/>
                </a:solidFill>
              </a:rPr>
              <a:t>1 h</a:t>
            </a:r>
            <a:endParaRPr lang="en-US" sz="96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 ayuda que das</a:t>
            </a:r>
            <a:endParaRPr lang="en-US" sz="9600" dirty="0"/>
          </a:p>
          <a:p>
            <a:pPr algn="ctr" indent="0" marL="0">
              <a:buNone/>
            </a:pPr>
            <a:r>
              <a:rPr lang="en-US" sz="4000" dirty="0">
                <a:solidFill>
                  <a:schemeClr val="accent6"/>
                </a:solidFill>
              </a:rPr>
              <a:t>=</a:t>
            </a:r>
            <a:endParaRPr lang="en-US" sz="9600" dirty="0"/>
          </a:p>
          <a:p>
            <a:pPr algn="ctr" indent="0" marL="0">
              <a:buNone/>
            </a:pPr>
            <a:r>
              <a:rPr lang="en-US" sz="9600" b="1" dirty="0">
                <a:solidFill>
                  <a:schemeClr val="accent4"/>
                </a:solidFill>
              </a:rPr>
              <a:t>1 h</a:t>
            </a:r>
            <a:endParaRPr lang="en-US" sz="96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que puedes pedir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EL PROYECTO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Intercambiar horas en lugar de dinero</a:t>
            </a:r>
            <a:endParaRPr lang="en-US" sz="3200" dirty="0"/>
          </a:p>
        </p:txBody>
      </p:sp>
      <p:sp>
        <p:nvSpPr>
          <p:cNvPr id="4" name="Descripción del problema"/>
          <p:cNvSpPr txBox="1"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Mucha gente sabe hacer algo útil —enseñar, reparar, cuidar— pero no siempre puede pagar por la ayuda que necesita. TimeBank registra esos intercambios y lleva el saldo de horas de cada persona.</a:t>
            </a:r>
            <a:endParaRPr lang="en-US" sz="1800" dirty="0"/>
          </a:p>
        </p:txBody>
      </p:sp>
      <p:sp>
        <p:nvSpPr>
          <p:cNvPr id="5" name="Tarjeta ofrecer fondo"/>
          <p:cNvSpPr/>
          <p:nvPr/>
        </p:nvSpPr>
        <p:spPr>
          <a:xfrm>
            <a:off x="54864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6" name="Tarjeta ofrecer círculo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arjeta ofrecer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74720"/>
            <a:ext cx="292608" cy="292608"/>
          </a:xfrm>
          <a:prstGeom prst="rect">
            <a:avLst/>
          </a:prstGeom>
        </p:spPr>
      </p:pic>
      <p:sp>
        <p:nvSpPr>
          <p:cNvPr id="8" name="Tarjeta ofrecer título"/>
          <p:cNvSpPr txBox="1"/>
          <p:nvPr/>
        </p:nvSpPr>
        <p:spPr>
          <a:xfrm>
            <a:off x="822960" y="4050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Ofrecer</a:t>
            </a:r>
            <a:endParaRPr lang="en-US" sz="1800" dirty="0"/>
          </a:p>
        </p:txBody>
      </p:sp>
      <p:sp>
        <p:nvSpPr>
          <p:cNvPr id="9" name="Tarjeta ofrecer texto"/>
          <p:cNvSpPr txBox="1"/>
          <p:nvPr/>
        </p:nvSpPr>
        <p:spPr>
          <a:xfrm>
            <a:off x="822960" y="446227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usuario publica los servicios que sabe hacer, dentro de una categoría.</a:t>
            </a:r>
            <a:endParaRPr lang="en-US" sz="1400" dirty="0"/>
          </a:p>
        </p:txBody>
      </p:sp>
      <p:sp>
        <p:nvSpPr>
          <p:cNvPr id="10" name="Tarjeta pedir fondo"/>
          <p:cNvSpPr/>
          <p:nvPr/>
        </p:nvSpPr>
        <p:spPr>
          <a:xfrm>
            <a:off x="432054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1" name="Tarjeta pedir círculo"/>
          <p:cNvSpPr/>
          <p:nvPr/>
        </p:nvSpPr>
        <p:spPr>
          <a:xfrm>
            <a:off x="4594860" y="3337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arjeta pedi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3474720"/>
            <a:ext cx="292608" cy="292608"/>
          </a:xfrm>
          <a:prstGeom prst="rect">
            <a:avLst/>
          </a:prstGeom>
        </p:spPr>
      </p:pic>
      <p:sp>
        <p:nvSpPr>
          <p:cNvPr id="13" name="Tarjeta pedir título"/>
          <p:cNvSpPr txBox="1"/>
          <p:nvPr/>
        </p:nvSpPr>
        <p:spPr>
          <a:xfrm>
            <a:off x="4594860" y="4050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Pedir</a:t>
            </a:r>
            <a:endParaRPr lang="en-US" sz="1800" dirty="0"/>
          </a:p>
        </p:txBody>
      </p:sp>
      <p:sp>
        <p:nvSpPr>
          <p:cNvPr id="14" name="Tarjeta pedir texto"/>
          <p:cNvSpPr txBox="1"/>
          <p:nvPr/>
        </p:nvSpPr>
        <p:spPr>
          <a:xfrm>
            <a:off x="4594860" y="446227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Solicita el servicio de otra persona y paga con sus horas. Empieza con 2 horas de bienvenida.</a:t>
            </a:r>
            <a:endParaRPr lang="en-US" sz="1400" dirty="0"/>
          </a:p>
        </p:txBody>
      </p:sp>
      <p:sp>
        <p:nvSpPr>
          <p:cNvPr id="15" name="Tarjeta equilibrar fondo"/>
          <p:cNvSpPr/>
          <p:nvPr/>
        </p:nvSpPr>
        <p:spPr>
          <a:xfrm>
            <a:off x="809244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6" name="Tarjeta equilibrar círculo"/>
          <p:cNvSpPr/>
          <p:nvPr/>
        </p:nvSpPr>
        <p:spPr>
          <a:xfrm>
            <a:off x="8366760" y="33375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arjeta equilibrar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474720"/>
            <a:ext cx="292608" cy="292608"/>
          </a:xfrm>
          <a:prstGeom prst="rect">
            <a:avLst/>
          </a:prstGeom>
        </p:spPr>
      </p:pic>
      <p:sp>
        <p:nvSpPr>
          <p:cNvPr id="18" name="Tarjeta equilibrar título"/>
          <p:cNvSpPr txBox="1"/>
          <p:nvPr/>
        </p:nvSpPr>
        <p:spPr>
          <a:xfrm>
            <a:off x="8366760" y="4050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Equilibrar</a:t>
            </a:r>
            <a:endParaRPr lang="en-US" sz="1800" dirty="0"/>
          </a:p>
        </p:txBody>
      </p:sp>
      <p:sp>
        <p:nvSpPr>
          <p:cNvPr id="19" name="Tarjeta equilibrar texto"/>
          <p:cNvSpPr txBox="1"/>
          <p:nvPr/>
        </p:nvSpPr>
        <p:spPr>
          <a:xfrm>
            <a:off x="8366760" y="446227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 completar el intercambio, las horas pasan de quien pidió a quien ayudó y quedan registradas.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PRIMER AVANCE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se construyó en este avance</a:t>
            </a:r>
            <a:endParaRPr lang="en-US" sz="3200" dirty="0"/>
          </a:p>
        </p:txBody>
      </p:sp>
      <p:sp>
        <p:nvSpPr>
          <p:cNvPr id="4" name="Número 01"/>
          <p:cNvSpPr txBox="1"/>
          <p:nvPr/>
        </p:nvSpPr>
        <p:spPr>
          <a:xfrm>
            <a:off x="5486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5" name="Objetivo 01"/>
          <p:cNvSpPr txBox="1"/>
          <p:nvPr/>
        </p:nvSpPr>
        <p:spPr>
          <a:xfrm>
            <a:off x="54864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Estructura del proyecto</a:t>
            </a:r>
            <a:endParaRPr lang="en-US" sz="2000" dirty="0"/>
          </a:p>
        </p:txBody>
      </p:sp>
      <p:sp>
        <p:nvSpPr>
          <p:cNvPr id="6" name="Detalle 01"/>
          <p:cNvSpPr txBox="1"/>
          <p:nvPr/>
        </p:nvSpPr>
        <p:spPr>
          <a:xfrm>
            <a:off x="548640" y="38404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Carpetas frontend, backend, database, docs y tests en un repositorio público de GitHub.</a:t>
            </a:r>
            <a:endParaRPr lang="en-US" sz="1500" dirty="0"/>
          </a:p>
        </p:txBody>
      </p:sp>
      <p:sp>
        <p:nvSpPr>
          <p:cNvPr id="7" name="Número 02"/>
          <p:cNvSpPr txBox="1"/>
          <p:nvPr/>
        </p:nvSpPr>
        <p:spPr>
          <a:xfrm>
            <a:off x="336042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02</a:t>
            </a:r>
            <a:endParaRPr lang="en-US" sz="4800" dirty="0"/>
          </a:p>
        </p:txBody>
      </p:sp>
      <p:sp>
        <p:nvSpPr>
          <p:cNvPr id="8" name="Objetivo 02"/>
          <p:cNvSpPr txBox="1"/>
          <p:nvPr/>
        </p:nvSpPr>
        <p:spPr>
          <a:xfrm>
            <a:off x="336042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Modelos y base de datos</a:t>
            </a:r>
            <a:endParaRPr lang="en-US" sz="2000" dirty="0"/>
          </a:p>
        </p:txBody>
      </p:sp>
      <p:sp>
        <p:nvSpPr>
          <p:cNvPr id="9" name="Detalle 02"/>
          <p:cNvSpPr txBox="1"/>
          <p:nvPr/>
        </p:nvSpPr>
        <p:spPr>
          <a:xfrm>
            <a:off x="3360420" y="38404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Entidades en C# con Entity Framework Core y migración a PostgreSQL.</a:t>
            </a:r>
            <a:endParaRPr lang="en-US" sz="1500" dirty="0"/>
          </a:p>
        </p:txBody>
      </p:sp>
      <p:sp>
        <p:nvSpPr>
          <p:cNvPr id="10" name="Número 03"/>
          <p:cNvSpPr txBox="1"/>
          <p:nvPr/>
        </p:nvSpPr>
        <p:spPr>
          <a:xfrm>
            <a:off x="617220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03</a:t>
            </a:r>
            <a:endParaRPr lang="en-US" sz="4800" dirty="0"/>
          </a:p>
        </p:txBody>
      </p:sp>
      <p:sp>
        <p:nvSpPr>
          <p:cNvPr id="11" name="Objetivo 03"/>
          <p:cNvSpPr txBox="1"/>
          <p:nvPr/>
        </p:nvSpPr>
        <p:spPr>
          <a:xfrm>
            <a:off x="617220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API REST con CRUD</a:t>
            </a:r>
            <a:endParaRPr lang="en-US" sz="2000" dirty="0"/>
          </a:p>
        </p:txBody>
      </p:sp>
      <p:sp>
        <p:nvSpPr>
          <p:cNvPr id="12" name="Detalle 03"/>
          <p:cNvSpPr txBox="1"/>
          <p:nvPr/>
        </p:nvSpPr>
        <p:spPr>
          <a:xfrm>
            <a:off x="6172200" y="38404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Controladores para crear, leer, editar y eliminar cada recurso, probados en Postman.</a:t>
            </a:r>
            <a:endParaRPr lang="en-US" sz="1500" dirty="0"/>
          </a:p>
        </p:txBody>
      </p:sp>
      <p:sp>
        <p:nvSpPr>
          <p:cNvPr id="13" name="Número 04"/>
          <p:cNvSpPr txBox="1"/>
          <p:nvPr/>
        </p:nvSpPr>
        <p:spPr>
          <a:xfrm>
            <a:off x="898398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04</a:t>
            </a:r>
            <a:endParaRPr lang="en-US" sz="4800" dirty="0"/>
          </a:p>
        </p:txBody>
      </p:sp>
      <p:sp>
        <p:nvSpPr>
          <p:cNvPr id="14" name="Objetivo 04"/>
          <p:cNvSpPr txBox="1"/>
          <p:nvPr/>
        </p:nvSpPr>
        <p:spPr>
          <a:xfrm>
            <a:off x="89839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Reglas de negocio</a:t>
            </a:r>
            <a:endParaRPr lang="en-US" sz="2000" dirty="0"/>
          </a:p>
        </p:txBody>
      </p:sp>
      <p:sp>
        <p:nvSpPr>
          <p:cNvPr id="15" name="Detalle 04"/>
          <p:cNvSpPr txBox="1"/>
          <p:nvPr/>
        </p:nvSpPr>
        <p:spPr>
          <a:xfrm>
            <a:off x="8983980" y="38404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Validaciones del banco de tiempo: saldo, estados de solicitud y valoraciones.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ARQUITECTURA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Capas del sistema</a:t>
            </a:r>
            <a:endParaRPr lang="en-US" sz="3200" dirty="0"/>
          </a:p>
        </p:txBody>
      </p:sp>
      <p:sp>
        <p:nvSpPr>
          <p:cNvPr id="4" name="Capa Angular 22"/>
          <p:cNvSpPr/>
          <p:nvPr/>
        </p:nvSpPr>
        <p:spPr>
          <a:xfrm>
            <a:off x="548640" y="22860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Capa Angular 22 texto"/>
          <p:cNvSpPr txBox="1"/>
          <p:nvPr/>
        </p:nvSpPr>
        <p:spPr>
          <a:xfrm>
            <a:off x="548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Angular 22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Frontend (siguiente avance)</a:t>
            </a:r>
            <a:endParaRPr lang="en-US" sz="1600" dirty="0"/>
          </a:p>
        </p:txBody>
      </p:sp>
      <p:sp>
        <p:nvSpPr>
          <p:cNvPr id="6" name="Flecha 1"/>
          <p:cNvSpPr/>
          <p:nvPr/>
        </p:nvSpPr>
        <p:spPr>
          <a:xfrm>
            <a:off x="2395728" y="2880360"/>
            <a:ext cx="42062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7" name="Capa Controllers"/>
          <p:cNvSpPr/>
          <p:nvPr/>
        </p:nvSpPr>
        <p:spPr>
          <a:xfrm>
            <a:off x="2834640" y="22860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8" name="Capa Controllers texto"/>
          <p:cNvSpPr txBox="1"/>
          <p:nvPr/>
        </p:nvSpPr>
        <p:spPr>
          <a:xfrm>
            <a:off x="2834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Controllers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API REST · JSON</a:t>
            </a:r>
            <a:endParaRPr lang="en-US" sz="1600" dirty="0"/>
          </a:p>
        </p:txBody>
      </p:sp>
      <p:sp>
        <p:nvSpPr>
          <p:cNvPr id="9" name="Flecha 2"/>
          <p:cNvSpPr/>
          <p:nvPr/>
        </p:nvSpPr>
        <p:spPr>
          <a:xfrm>
            <a:off x="4681728" y="2880360"/>
            <a:ext cx="42062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0" name="Capa Services"/>
          <p:cNvSpPr/>
          <p:nvPr/>
        </p:nvSpPr>
        <p:spPr>
          <a:xfrm>
            <a:off x="5120640" y="22860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11" name="Capa Services texto"/>
          <p:cNvSpPr txBox="1"/>
          <p:nvPr/>
        </p:nvSpPr>
        <p:spPr>
          <a:xfrm>
            <a:off x="5120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Reglas de negocio</a:t>
            </a:r>
            <a:endParaRPr lang="en-US" sz="1600" dirty="0"/>
          </a:p>
        </p:txBody>
      </p:sp>
      <p:sp>
        <p:nvSpPr>
          <p:cNvPr id="12" name="Flecha 3"/>
          <p:cNvSpPr/>
          <p:nvPr/>
        </p:nvSpPr>
        <p:spPr>
          <a:xfrm>
            <a:off x="6967728" y="2880360"/>
            <a:ext cx="42062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3" name="Capa EF Core 10"/>
          <p:cNvSpPr/>
          <p:nvPr/>
        </p:nvSpPr>
        <p:spPr>
          <a:xfrm>
            <a:off x="7406640" y="22860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Capa EF Core 10 texto"/>
          <p:cNvSpPr txBox="1"/>
          <p:nvPr/>
        </p:nvSpPr>
        <p:spPr>
          <a:xfrm>
            <a:off x="7406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EF Core 10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TimeBankDbContext</a:t>
            </a:r>
            <a:endParaRPr lang="en-US" sz="1600" dirty="0"/>
          </a:p>
        </p:txBody>
      </p:sp>
      <p:sp>
        <p:nvSpPr>
          <p:cNvPr id="15" name="Flecha 4"/>
          <p:cNvSpPr/>
          <p:nvPr/>
        </p:nvSpPr>
        <p:spPr>
          <a:xfrm>
            <a:off x="9253728" y="2880360"/>
            <a:ext cx="420624" cy="0"/>
          </a:xfrm>
          <a:prstGeom prst="line">
            <a:avLst/>
          </a:prstGeom>
          <a:noFill/>
          <a:ln w="25400">
            <a:solidFill>
              <a:srgbClr val="E6333E"/>
            </a:solidFill>
            <a:prstDash val="solid"/>
            <a:tailEnd type="triangle"/>
          </a:ln>
        </p:spPr>
      </p:sp>
      <p:sp>
        <p:nvSpPr>
          <p:cNvPr id="16" name="Capa PostgreSQL"/>
          <p:cNvSpPr/>
          <p:nvPr/>
        </p:nvSpPr>
        <p:spPr>
          <a:xfrm>
            <a:off x="9692640" y="2286000"/>
            <a:ext cx="182880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Capa PostgreSQL texto"/>
          <p:cNvSpPr txBox="1"/>
          <p:nvPr/>
        </p:nvSpPr>
        <p:spPr>
          <a:xfrm>
            <a:off x="9692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pgAdmin 4</a:t>
            </a:r>
            <a:endParaRPr lang="en-US" sz="1600" dirty="0"/>
          </a:p>
        </p:txBody>
      </p:sp>
      <p:sp>
        <p:nvSpPr>
          <p:cNvPr id="18" name="Etiqueta HTTP"/>
          <p:cNvSpPr txBox="1"/>
          <p:nvPr/>
        </p:nvSpPr>
        <p:spPr>
          <a:xfrm>
            <a:off x="21945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 / JSON</a:t>
            </a:r>
            <a:endParaRPr lang="en-US" sz="1200" dirty="0"/>
          </a:p>
        </p:txBody>
      </p:sp>
      <p:sp>
        <p:nvSpPr>
          <p:cNvPr id="19" name="Stack Backend fondo"/>
          <p:cNvSpPr/>
          <p:nvPr/>
        </p:nvSpPr>
        <p:spPr>
          <a:xfrm>
            <a:off x="548640" y="4069080"/>
            <a:ext cx="5440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Stack Backend"/>
          <p:cNvSpPr txBox="1"/>
          <p:nvPr/>
        </p:nvSpPr>
        <p:spPr>
          <a:xfrm>
            <a:off x="77724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Backend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ASP.NET Core 10 Web API · C#</a:t>
            </a:r>
            <a:endParaRPr lang="en-US" sz="1500" dirty="0"/>
          </a:p>
        </p:txBody>
      </p:sp>
      <p:sp>
        <p:nvSpPr>
          <p:cNvPr id="21" name="Stack Datos fondo"/>
          <p:cNvSpPr/>
          <p:nvPr/>
        </p:nvSpPr>
        <p:spPr>
          <a:xfrm>
            <a:off x="6172200" y="4069080"/>
            <a:ext cx="5440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2" name="Stack Datos"/>
          <p:cNvSpPr txBox="1"/>
          <p:nvPr/>
        </p:nvSpPr>
        <p:spPr>
          <a:xfrm>
            <a:off x="640080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Datos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Entity Framework Core 10 + Npgsql · PostgreSQL</a:t>
            </a:r>
            <a:endParaRPr lang="en-US" sz="1500" dirty="0"/>
          </a:p>
        </p:txBody>
      </p:sp>
      <p:sp>
        <p:nvSpPr>
          <p:cNvPr id="23" name="Stack Pruebas fondo"/>
          <p:cNvSpPr/>
          <p:nvPr/>
        </p:nvSpPr>
        <p:spPr>
          <a:xfrm>
            <a:off x="548640" y="4983480"/>
            <a:ext cx="5440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Stack Pruebas"/>
          <p:cNvSpPr txBox="1"/>
          <p:nvPr/>
        </p:nvSpPr>
        <p:spPr>
          <a:xfrm>
            <a:off x="777240" y="4983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Pruebas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Postman y scripts PowerShell automáticos</a:t>
            </a:r>
            <a:endParaRPr lang="en-US" sz="1500" dirty="0"/>
          </a:p>
        </p:txBody>
      </p:sp>
      <p:sp>
        <p:nvSpPr>
          <p:cNvPr id="25" name="Stack Versiones fondo"/>
          <p:cNvSpPr/>
          <p:nvPr/>
        </p:nvSpPr>
        <p:spPr>
          <a:xfrm>
            <a:off x="6172200" y="4983480"/>
            <a:ext cx="5440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6" name="Stack Versiones"/>
          <p:cNvSpPr txBox="1"/>
          <p:nvPr/>
        </p:nvSpPr>
        <p:spPr>
          <a:xfrm>
            <a:off x="6400800" y="4983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Versiones 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 y GitHub con etiquetas por avance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BASE DE DATOS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 de datos</a:t>
            </a:r>
            <a:endParaRPr lang="en-US" sz="3200" dirty="0"/>
          </a:p>
        </p:txBody>
      </p:sp>
      <p:sp>
        <p:nvSpPr>
          <p:cNvPr id="4" name="Entidad User"/>
          <p:cNvSpPr/>
          <p:nvPr/>
        </p:nvSpPr>
        <p:spPr>
          <a:xfrm>
            <a:off x="548640" y="219456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5" name="Entidad User texto"/>
          <p:cNvSpPr txBox="1"/>
          <p:nvPr/>
        </p:nvSpPr>
        <p:spPr>
          <a:xfrm>
            <a:off x="548640" y="219456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Correo único, contraseña con hash y saldo de horas</a:t>
            </a:r>
            <a:endParaRPr lang="en-US" sz="1600" dirty="0"/>
          </a:p>
        </p:txBody>
      </p:sp>
      <p:sp>
        <p:nvSpPr>
          <p:cNvPr id="6" name="Entidad Service"/>
          <p:cNvSpPr/>
          <p:nvPr/>
        </p:nvSpPr>
        <p:spPr>
          <a:xfrm>
            <a:off x="4617720" y="219456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Entidad Service texto"/>
          <p:cNvSpPr txBox="1"/>
          <p:nvPr/>
        </p:nvSpPr>
        <p:spPr>
          <a:xfrm>
            <a:off x="4617720" y="219456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 que ofrece un usuario</a:t>
            </a:r>
            <a:endParaRPr lang="en-US" sz="1600" dirty="0"/>
          </a:p>
        </p:txBody>
      </p:sp>
      <p:sp>
        <p:nvSpPr>
          <p:cNvPr id="8" name="Entidad ServiceRequest"/>
          <p:cNvSpPr/>
          <p:nvPr/>
        </p:nvSpPr>
        <p:spPr>
          <a:xfrm>
            <a:off x="8686800" y="219456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Entidad ServiceRequest texto"/>
          <p:cNvSpPr txBox="1"/>
          <p:nvPr/>
        </p:nvSpPr>
        <p:spPr>
          <a:xfrm>
            <a:off x="8686800" y="219456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ServiceRequest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Pedido de un servicio y su estado</a:t>
            </a:r>
            <a:endParaRPr lang="en-US" sz="1600" dirty="0"/>
          </a:p>
        </p:txBody>
      </p:sp>
      <p:sp>
        <p:nvSpPr>
          <p:cNvPr id="10" name="Entidad TimeTransaction"/>
          <p:cNvSpPr/>
          <p:nvPr/>
        </p:nvSpPr>
        <p:spPr>
          <a:xfrm>
            <a:off x="548640" y="457200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Entidad TimeTransaction texto"/>
          <p:cNvSpPr txBox="1"/>
          <p:nvPr/>
        </p:nvSpPr>
        <p:spPr>
          <a:xfrm>
            <a:off x="548640" y="457200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TimeTransaction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Movimiento de horas entre usuarios</a:t>
            </a:r>
            <a:endParaRPr lang="en-US" sz="1600" dirty="0"/>
          </a:p>
        </p:txBody>
      </p:sp>
      <p:sp>
        <p:nvSpPr>
          <p:cNvPr id="12" name="Entidad Category"/>
          <p:cNvSpPr/>
          <p:nvPr/>
        </p:nvSpPr>
        <p:spPr>
          <a:xfrm>
            <a:off x="4617720" y="457200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Entidad Category texto"/>
          <p:cNvSpPr txBox="1"/>
          <p:nvPr/>
        </p:nvSpPr>
        <p:spPr>
          <a:xfrm>
            <a:off x="4617720" y="457200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Nombre único y descripción</a:t>
            </a:r>
            <a:endParaRPr lang="en-US" sz="1600" dirty="0"/>
          </a:p>
        </p:txBody>
      </p:sp>
      <p:sp>
        <p:nvSpPr>
          <p:cNvPr id="14" name="Entidad Review"/>
          <p:cNvSpPr/>
          <p:nvPr/>
        </p:nvSpPr>
        <p:spPr>
          <a:xfrm>
            <a:off x="8686800" y="4572000"/>
            <a:ext cx="29260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Entidad Review texto"/>
          <p:cNvSpPr txBox="1"/>
          <p:nvPr/>
        </p:nvSpPr>
        <p:spPr>
          <a:xfrm>
            <a:off x="8686800" y="457200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Valoración de 1 a 5 del intercambio</a:t>
            </a:r>
            <a:endParaRPr lang="en-US" sz="1600" dirty="0"/>
          </a:p>
        </p:txBody>
      </p:sp>
      <p:sp>
        <p:nvSpPr>
          <p:cNvPr id="16" name="Relación User-Service"/>
          <p:cNvSpPr/>
          <p:nvPr/>
        </p:nvSpPr>
        <p:spPr>
          <a:xfrm>
            <a:off x="3474720" y="2834640"/>
            <a:ext cx="1143000" cy="0"/>
          </a:xfrm>
          <a:prstGeom prst="line">
            <a:avLst/>
          </a:prstGeom>
          <a:noFill/>
          <a:ln w="22225">
            <a:solidFill>
              <a:srgbClr val="E6333E"/>
            </a:solidFill>
            <a:prstDash val="solid"/>
          </a:ln>
        </p:spPr>
      </p:sp>
      <p:sp>
        <p:nvSpPr>
          <p:cNvPr id="17" name="Relación User-Service etiqueta"/>
          <p:cNvSpPr txBox="1"/>
          <p:nvPr/>
        </p:nvSpPr>
        <p:spPr>
          <a:xfrm>
            <a:off x="347472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ofrece 1—N</a:t>
            </a:r>
            <a:endParaRPr lang="en-US" sz="1100" dirty="0"/>
          </a:p>
        </p:txBody>
      </p:sp>
      <p:sp>
        <p:nvSpPr>
          <p:cNvPr id="18" name="Relación Service-ServiceRequest"/>
          <p:cNvSpPr/>
          <p:nvPr/>
        </p:nvSpPr>
        <p:spPr>
          <a:xfrm>
            <a:off x="7543800" y="2834640"/>
            <a:ext cx="1143000" cy="0"/>
          </a:xfrm>
          <a:prstGeom prst="line">
            <a:avLst/>
          </a:prstGeom>
          <a:noFill/>
          <a:ln w="22225">
            <a:solidFill>
              <a:srgbClr val="E6333E"/>
            </a:solidFill>
            <a:prstDash val="solid"/>
          </a:ln>
        </p:spPr>
      </p:sp>
      <p:sp>
        <p:nvSpPr>
          <p:cNvPr id="19" name="Relación Service-ServiceRequest etiqueta"/>
          <p:cNvSpPr txBox="1"/>
          <p:nvPr/>
        </p:nvSpPr>
        <p:spPr>
          <a:xfrm>
            <a:off x="754380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 pide 1—N</a:t>
            </a:r>
            <a:endParaRPr lang="en-US" sz="1100" dirty="0"/>
          </a:p>
        </p:txBody>
      </p:sp>
      <p:sp>
        <p:nvSpPr>
          <p:cNvPr id="20" name="Relación vertical 1"/>
          <p:cNvSpPr/>
          <p:nvPr/>
        </p:nvSpPr>
        <p:spPr>
          <a:xfrm>
            <a:off x="2011680" y="3474720"/>
            <a:ext cx="0" cy="1097280"/>
          </a:xfrm>
          <a:prstGeom prst="line">
            <a:avLst/>
          </a:prstGeom>
          <a:noFill/>
          <a:ln w="22225">
            <a:solidFill>
              <a:srgbClr val="E6333E"/>
            </a:solidFill>
            <a:prstDash val="solid"/>
          </a:ln>
        </p:spPr>
      </p:sp>
      <p:sp>
        <p:nvSpPr>
          <p:cNvPr id="21" name="Relación vertical 1 etiqueta"/>
          <p:cNvSpPr txBox="1"/>
          <p:nvPr/>
        </p:nvSpPr>
        <p:spPr>
          <a:xfrm>
            <a:off x="2103120" y="3886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mueve horas</a:t>
            </a:r>
            <a:endParaRPr lang="en-US" sz="1100" dirty="0"/>
          </a:p>
        </p:txBody>
      </p:sp>
      <p:sp>
        <p:nvSpPr>
          <p:cNvPr id="22" name="Relación vertical 2"/>
          <p:cNvSpPr/>
          <p:nvPr/>
        </p:nvSpPr>
        <p:spPr>
          <a:xfrm>
            <a:off x="6080760" y="3474720"/>
            <a:ext cx="0" cy="1097280"/>
          </a:xfrm>
          <a:prstGeom prst="line">
            <a:avLst/>
          </a:prstGeom>
          <a:noFill/>
          <a:ln w="22225">
            <a:solidFill>
              <a:srgbClr val="E6333E"/>
            </a:solidFill>
            <a:prstDash val="solid"/>
          </a:ln>
        </p:spPr>
      </p:sp>
      <p:sp>
        <p:nvSpPr>
          <p:cNvPr id="23" name="Relación vertical 2 etiqueta"/>
          <p:cNvSpPr txBox="1"/>
          <p:nvPr/>
        </p:nvSpPr>
        <p:spPr>
          <a:xfrm>
            <a:off x="6172200" y="3886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pertenece a</a:t>
            </a:r>
            <a:endParaRPr lang="en-US" sz="1100" dirty="0"/>
          </a:p>
        </p:txBody>
      </p:sp>
      <p:sp>
        <p:nvSpPr>
          <p:cNvPr id="24" name="Relación vertical 3"/>
          <p:cNvSpPr/>
          <p:nvPr/>
        </p:nvSpPr>
        <p:spPr>
          <a:xfrm>
            <a:off x="10149840" y="3474720"/>
            <a:ext cx="0" cy="1097280"/>
          </a:xfrm>
          <a:prstGeom prst="line">
            <a:avLst/>
          </a:prstGeom>
          <a:noFill/>
          <a:ln w="22225">
            <a:solidFill>
              <a:srgbClr val="E6333E"/>
            </a:solidFill>
            <a:prstDash val="solid"/>
          </a:ln>
        </p:spPr>
      </p:sp>
      <p:sp>
        <p:nvSpPr>
          <p:cNvPr id="25" name="Relación vertical 3 etiqueta"/>
          <p:cNvSpPr txBox="1"/>
          <p:nvPr/>
        </p:nvSpPr>
        <p:spPr>
          <a:xfrm>
            <a:off x="10241280" y="3886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 valora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CONEXIÓN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 los modelos a PostgreSQL</a:t>
            </a:r>
            <a:endParaRPr lang="en-US" sz="3200" dirty="0"/>
          </a:p>
        </p:txBody>
      </p:sp>
      <p:sp>
        <p:nvSpPr>
          <p:cNvPr id="4" name="Paso 1 círculo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aso 1 número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o 1 texto"/>
          <p:cNvSpPr txBox="1"/>
          <p:nvPr/>
        </p:nvSpPr>
        <p:spPr>
          <a:xfrm>
            <a:off x="1234440" y="18928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Paquetes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Npgsql.EntityFrameworkCore.PostgreSQL y EF Core Design</a:t>
            </a:r>
            <a:endParaRPr lang="en-US" sz="1700" dirty="0"/>
          </a:p>
        </p:txBody>
      </p:sp>
      <p:sp>
        <p:nvSpPr>
          <p:cNvPr id="7" name="Paso 2 círculo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aso 2 número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aso 2 texto"/>
          <p:cNvSpPr txBox="1"/>
          <p:nvPr/>
        </p:nvSpPr>
        <p:spPr>
          <a:xfrm>
            <a:off x="1234440" y="291693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Cadena de conexión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 appsettings.Development.json (no se sube a GitHub)</a:t>
            </a:r>
            <a:endParaRPr lang="en-US" sz="1700" dirty="0"/>
          </a:p>
        </p:txBody>
      </p:sp>
      <p:sp>
        <p:nvSpPr>
          <p:cNvPr id="10" name="Paso 3 círculo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aso 3 número"/>
          <p:cNvSpPr txBox="1"/>
          <p:nvPr/>
        </p:nvSpPr>
        <p:spPr>
          <a:xfrm>
            <a:off x="54864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aso 3 texto"/>
          <p:cNvSpPr txBox="1"/>
          <p:nvPr/>
        </p:nvSpPr>
        <p:spPr>
          <a:xfrm>
            <a:off x="1234440" y="39410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DbContext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DbSet&lt;T&gt; se convierte en una tabla</a:t>
            </a:r>
            <a:endParaRPr lang="en-US" sz="1700" dirty="0"/>
          </a:p>
        </p:txBody>
      </p:sp>
      <p:sp>
        <p:nvSpPr>
          <p:cNvPr id="13" name="Paso 4 círculo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aso 4 número"/>
          <p:cNvSpPr txBox="1"/>
          <p:nvPr/>
        </p:nvSpPr>
        <p:spPr>
          <a:xfrm>
            <a:off x="548640" y="5038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Paso 4 texto"/>
          <p:cNvSpPr txBox="1"/>
          <p:nvPr/>
        </p:nvSpPr>
        <p:spPr>
          <a:xfrm>
            <a:off x="1234440" y="496519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Migración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dotnet ef migrations add InitialCreate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dotnet ef database update</a:t>
            </a:r>
            <a:endParaRPr lang="en-US" sz="1700" dirty="0"/>
          </a:p>
        </p:txBody>
      </p:sp>
      <p:pic>
        <p:nvPicPr>
          <p:cNvPr id="16" name="Captura de pgAdmin con la tabla Categories" descr="/tmp/claude-0/-home-claude/9fbcf92b-c261-5d9a-bebc-b0ad23150f66/scratchpad/deck/05_pg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74520"/>
            <a:ext cx="5212080" cy="406875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API REST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CRUD por recurso</a:t>
            </a:r>
            <a:endParaRPr lang="en-US" sz="3200" dirty="0"/>
          </a:p>
        </p:txBody>
      </p:sp>
      <p:graphicFrame>
        <p:nvGraphicFramePr>
          <p:cNvPr id="8" name="Tabla de endpo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Recurso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Operaciones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Categorías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/api/categories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· GET por id · POST · PUT ·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Usuarios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/api/users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· GET por id · POST · PUT ·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Servicios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/api/services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con filtros · POST · PUT ·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Solicitudes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/api/servicerequests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CRUD + PUT /{id}/status (aceptar, rechazar, completar)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Valoraciones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/api/reviews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· POST · DELETE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Movimientos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/api/timetransactions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GET (historial de horas)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ítulo códigos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Códigos HTTP</a:t>
            </a:r>
            <a:endParaRPr lang="en-US" sz="1600" dirty="0"/>
          </a:p>
        </p:txBody>
      </p:sp>
      <p:sp>
        <p:nvSpPr>
          <p:cNvPr id="6" name="Código 200 fondo"/>
          <p:cNvSpPr/>
          <p:nvPr/>
        </p:nvSpPr>
        <p:spPr>
          <a:xfrm>
            <a:off x="8412480" y="237744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7" name="Código 200"/>
          <p:cNvSpPr txBox="1"/>
          <p:nvPr/>
        </p:nvSpPr>
        <p:spPr>
          <a:xfrm>
            <a:off x="841248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200</a:t>
            </a:r>
            <a:endParaRPr lang="en-US" sz="1400" dirty="0"/>
          </a:p>
        </p:txBody>
      </p:sp>
      <p:sp>
        <p:nvSpPr>
          <p:cNvPr id="8" name="Código 200 significado"/>
          <p:cNvSpPr txBox="1"/>
          <p:nvPr/>
        </p:nvSpPr>
        <p:spPr>
          <a:xfrm>
            <a:off x="937260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OK</a:t>
            </a:r>
            <a:endParaRPr lang="en-US" sz="1400" dirty="0"/>
          </a:p>
        </p:txBody>
      </p:sp>
      <p:sp>
        <p:nvSpPr>
          <p:cNvPr id="9" name="Código 201 fondo"/>
          <p:cNvSpPr/>
          <p:nvPr/>
        </p:nvSpPr>
        <p:spPr>
          <a:xfrm>
            <a:off x="8412480" y="292608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10" name="Código 201"/>
          <p:cNvSpPr txBox="1"/>
          <p:nvPr/>
        </p:nvSpPr>
        <p:spPr>
          <a:xfrm>
            <a:off x="8412480" y="2926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201</a:t>
            </a:r>
            <a:endParaRPr lang="en-US" sz="1400" dirty="0"/>
          </a:p>
        </p:txBody>
      </p:sp>
      <p:sp>
        <p:nvSpPr>
          <p:cNvPr id="11" name="Código 201 significado"/>
          <p:cNvSpPr txBox="1"/>
          <p:nvPr/>
        </p:nvSpPr>
        <p:spPr>
          <a:xfrm>
            <a:off x="937260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Creado</a:t>
            </a:r>
            <a:endParaRPr lang="en-US" sz="1400" dirty="0"/>
          </a:p>
        </p:txBody>
      </p:sp>
      <p:sp>
        <p:nvSpPr>
          <p:cNvPr id="12" name="Código 204 fondo"/>
          <p:cNvSpPr/>
          <p:nvPr/>
        </p:nvSpPr>
        <p:spPr>
          <a:xfrm>
            <a:off x="8412480" y="347472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13" name="Código 204"/>
          <p:cNvSpPr txBox="1"/>
          <p:nvPr/>
        </p:nvSpPr>
        <p:spPr>
          <a:xfrm>
            <a:off x="841248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204</a:t>
            </a:r>
            <a:endParaRPr lang="en-US" sz="1400" dirty="0"/>
          </a:p>
        </p:txBody>
      </p:sp>
      <p:sp>
        <p:nvSpPr>
          <p:cNvPr id="14" name="Código 204 significado"/>
          <p:cNvSpPr txBox="1"/>
          <p:nvPr/>
        </p:nvSpPr>
        <p:spPr>
          <a:xfrm>
            <a:off x="9372600" y="3474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 contenido</a:t>
            </a:r>
            <a:endParaRPr lang="en-US" sz="1400" dirty="0"/>
          </a:p>
        </p:txBody>
      </p:sp>
      <p:sp>
        <p:nvSpPr>
          <p:cNvPr id="15" name="Código 400 fondo"/>
          <p:cNvSpPr/>
          <p:nvPr/>
        </p:nvSpPr>
        <p:spPr>
          <a:xfrm>
            <a:off x="8412480" y="402336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16" name="Código 400"/>
          <p:cNvSpPr txBox="1"/>
          <p:nvPr/>
        </p:nvSpPr>
        <p:spPr>
          <a:xfrm>
            <a:off x="8412480" y="4023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400</a:t>
            </a:r>
            <a:endParaRPr lang="en-US" sz="1400" dirty="0"/>
          </a:p>
        </p:txBody>
      </p:sp>
      <p:sp>
        <p:nvSpPr>
          <p:cNvPr id="17" name="Código 400 significado"/>
          <p:cNvSpPr txBox="1"/>
          <p:nvPr/>
        </p:nvSpPr>
        <p:spPr>
          <a:xfrm>
            <a:off x="9372600" y="4023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Datos inválidos</a:t>
            </a:r>
            <a:endParaRPr lang="en-US" sz="1400" dirty="0"/>
          </a:p>
        </p:txBody>
      </p:sp>
      <p:sp>
        <p:nvSpPr>
          <p:cNvPr id="18" name="Código 404 fondo"/>
          <p:cNvSpPr/>
          <p:nvPr/>
        </p:nvSpPr>
        <p:spPr>
          <a:xfrm>
            <a:off x="8412480" y="457200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19" name="Código 404"/>
          <p:cNvSpPr txBox="1"/>
          <p:nvPr/>
        </p:nvSpPr>
        <p:spPr>
          <a:xfrm>
            <a:off x="8412480" y="4572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404</a:t>
            </a:r>
            <a:endParaRPr lang="en-US" sz="1400" dirty="0"/>
          </a:p>
        </p:txBody>
      </p:sp>
      <p:sp>
        <p:nvSpPr>
          <p:cNvPr id="20" name="Código 404 significado"/>
          <p:cNvSpPr txBox="1"/>
          <p:nvPr/>
        </p:nvSpPr>
        <p:spPr>
          <a:xfrm>
            <a:off x="9372600" y="4572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encontrado</a:t>
            </a:r>
            <a:endParaRPr lang="en-US" sz="1400" dirty="0"/>
          </a:p>
        </p:txBody>
      </p:sp>
      <p:sp>
        <p:nvSpPr>
          <p:cNvPr id="21" name="Código 409 fondo"/>
          <p:cNvSpPr/>
          <p:nvPr/>
        </p:nvSpPr>
        <p:spPr>
          <a:xfrm>
            <a:off x="8412480" y="5120640"/>
            <a:ext cx="8229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22" name="Código 409"/>
          <p:cNvSpPr txBox="1"/>
          <p:nvPr/>
        </p:nvSpPr>
        <p:spPr>
          <a:xfrm>
            <a:off x="8412480" y="5120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409</a:t>
            </a:r>
            <a:endParaRPr lang="en-US" sz="1400" dirty="0"/>
          </a:p>
        </p:txBody>
      </p:sp>
      <p:sp>
        <p:nvSpPr>
          <p:cNvPr id="23" name="Código 409 significado"/>
          <p:cNvSpPr txBox="1"/>
          <p:nvPr/>
        </p:nvSpPr>
        <p:spPr>
          <a:xfrm>
            <a:off x="9372600" y="5120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Correo repetido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REGLAS DE NEGOCIO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valida la API</a:t>
            </a:r>
            <a:endParaRPr lang="en-US" sz="3200" dirty="0"/>
          </a:p>
        </p:txBody>
      </p:sp>
      <p:sp>
        <p:nvSpPr>
          <p:cNvPr id="4" name="Regla 1 fondo"/>
          <p:cNvSpPr/>
          <p:nvPr/>
        </p:nvSpPr>
        <p:spPr>
          <a:xfrm>
            <a:off x="548640" y="18745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Regla 1 círculo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egla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292608" cy="292608"/>
          </a:xfrm>
          <a:prstGeom prst="rect">
            <a:avLst/>
          </a:prstGeom>
        </p:spPr>
      </p:pic>
      <p:sp>
        <p:nvSpPr>
          <p:cNvPr id="7" name="Regla 1 título"/>
          <p:cNvSpPr txBox="1"/>
          <p:nvPr/>
        </p:nvSpPr>
        <p:spPr>
          <a:xfrm>
            <a:off x="822960" y="2862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horas de bienvenida</a:t>
            </a:r>
            <a:endParaRPr lang="en-US" sz="1800" dirty="0"/>
          </a:p>
        </p:txBody>
      </p:sp>
      <p:sp>
        <p:nvSpPr>
          <p:cNvPr id="8" name="Regla 1 texto"/>
          <p:cNvSpPr txBox="1"/>
          <p:nvPr/>
        </p:nvSpPr>
        <p:spPr>
          <a:xfrm>
            <a:off x="822960" y="32735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usuario nuevo empieza con saldo para su primer pedido.</a:t>
            </a:r>
            <a:endParaRPr lang="en-US" sz="1400" dirty="0"/>
          </a:p>
        </p:txBody>
      </p:sp>
      <p:sp>
        <p:nvSpPr>
          <p:cNvPr id="9" name="Regla 2 fondo"/>
          <p:cNvSpPr/>
          <p:nvPr/>
        </p:nvSpPr>
        <p:spPr>
          <a:xfrm>
            <a:off x="4320540" y="18745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Regla 2 círculo"/>
          <p:cNvSpPr/>
          <p:nvPr/>
        </p:nvSpPr>
        <p:spPr>
          <a:xfrm>
            <a:off x="4594860" y="2148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egla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286000"/>
            <a:ext cx="292608" cy="292608"/>
          </a:xfrm>
          <a:prstGeom prst="rect">
            <a:avLst/>
          </a:prstGeom>
        </p:spPr>
      </p:pic>
      <p:sp>
        <p:nvSpPr>
          <p:cNvPr id="12" name="Regla 2 título"/>
          <p:cNvSpPr txBox="1"/>
          <p:nvPr/>
        </p:nvSpPr>
        <p:spPr>
          <a:xfrm>
            <a:off x="4594860" y="2862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Saldo suficiente</a:t>
            </a:r>
            <a:endParaRPr lang="en-US" sz="1800" dirty="0"/>
          </a:p>
        </p:txBody>
      </p:sp>
      <p:sp>
        <p:nvSpPr>
          <p:cNvPr id="13" name="Regla 2 texto"/>
          <p:cNvSpPr txBox="1"/>
          <p:nvPr/>
        </p:nvSpPr>
        <p:spPr>
          <a:xfrm>
            <a:off x="4594860" y="32735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se puede pedir un servicio si no alcanzan las horas.</a:t>
            </a:r>
            <a:endParaRPr lang="en-US" sz="1400" dirty="0"/>
          </a:p>
        </p:txBody>
      </p:sp>
      <p:sp>
        <p:nvSpPr>
          <p:cNvPr id="14" name="Regla 3 fondo"/>
          <p:cNvSpPr/>
          <p:nvPr/>
        </p:nvSpPr>
        <p:spPr>
          <a:xfrm>
            <a:off x="8092440" y="18745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Regla 3 círculo"/>
          <p:cNvSpPr/>
          <p:nvPr/>
        </p:nvSpPr>
        <p:spPr>
          <a:xfrm>
            <a:off x="8366760" y="2148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egla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286000"/>
            <a:ext cx="292608" cy="292608"/>
          </a:xfrm>
          <a:prstGeom prst="rect">
            <a:avLst/>
          </a:prstGeom>
        </p:spPr>
      </p:pic>
      <p:sp>
        <p:nvSpPr>
          <p:cNvPr id="17" name="Regla 3 título"/>
          <p:cNvSpPr txBox="1"/>
          <p:nvPr/>
        </p:nvSpPr>
        <p:spPr>
          <a:xfrm>
            <a:off x="8366760" y="28620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Nada de autoservicio</a:t>
            </a:r>
            <a:endParaRPr lang="en-US" sz="1800" dirty="0"/>
          </a:p>
        </p:txBody>
      </p:sp>
      <p:sp>
        <p:nvSpPr>
          <p:cNvPr id="18" name="Regla 3 texto"/>
          <p:cNvSpPr txBox="1"/>
          <p:nvPr/>
        </p:nvSpPr>
        <p:spPr>
          <a:xfrm>
            <a:off x="8366760" y="32735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Nadie puede pedir su propio servicio.</a:t>
            </a:r>
            <a:endParaRPr lang="en-US" sz="1400" dirty="0"/>
          </a:p>
        </p:txBody>
      </p:sp>
      <p:sp>
        <p:nvSpPr>
          <p:cNvPr id="19" name="Regla 4 fondo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Regla 4 círculo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Regla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26280"/>
            <a:ext cx="292608" cy="292608"/>
          </a:xfrm>
          <a:prstGeom prst="rect">
            <a:avLst/>
          </a:prstGeom>
        </p:spPr>
      </p:pic>
      <p:sp>
        <p:nvSpPr>
          <p:cNvPr id="22" name="Regla 4 título"/>
          <p:cNvSpPr txBox="1"/>
          <p:nvPr/>
        </p:nvSpPr>
        <p:spPr>
          <a:xfrm>
            <a:off x="822960" y="5102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Estados de la solicitud</a:t>
            </a:r>
            <a:endParaRPr lang="en-US" sz="1800" dirty="0"/>
          </a:p>
        </p:txBody>
      </p:sp>
      <p:sp>
        <p:nvSpPr>
          <p:cNvPr id="23" name="Regla 4 texto"/>
          <p:cNvSpPr txBox="1"/>
          <p:nvPr/>
        </p:nvSpPr>
        <p:spPr>
          <a:xfrm>
            <a:off x="822960" y="55138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Pendiente → Aceptada o Rechazada → Completada.</a:t>
            </a:r>
            <a:endParaRPr lang="en-US" sz="1400" dirty="0"/>
          </a:p>
        </p:txBody>
      </p:sp>
      <p:sp>
        <p:nvSpPr>
          <p:cNvPr id="24" name="Regla 5 fondo"/>
          <p:cNvSpPr/>
          <p:nvPr/>
        </p:nvSpPr>
        <p:spPr>
          <a:xfrm>
            <a:off x="4320540" y="41148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5" name="Regla 5 círculo"/>
          <p:cNvSpPr/>
          <p:nvPr/>
        </p:nvSpPr>
        <p:spPr>
          <a:xfrm>
            <a:off x="4594860" y="4389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Regla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526280"/>
            <a:ext cx="292608" cy="292608"/>
          </a:xfrm>
          <a:prstGeom prst="rect">
            <a:avLst/>
          </a:prstGeom>
        </p:spPr>
      </p:pic>
      <p:sp>
        <p:nvSpPr>
          <p:cNvPr id="27" name="Regla 5 título"/>
          <p:cNvSpPr txBox="1"/>
          <p:nvPr/>
        </p:nvSpPr>
        <p:spPr>
          <a:xfrm>
            <a:off x="4594860" y="5102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Valoraciones de 1 a 5</a:t>
            </a:r>
            <a:endParaRPr lang="en-US" sz="1800" dirty="0"/>
          </a:p>
        </p:txBody>
      </p:sp>
      <p:sp>
        <p:nvSpPr>
          <p:cNvPr id="28" name="Regla 5 texto"/>
          <p:cNvSpPr txBox="1"/>
          <p:nvPr/>
        </p:nvSpPr>
        <p:spPr>
          <a:xfrm>
            <a:off x="4594860" y="55138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Solo cuando el intercambio está completado.</a:t>
            </a:r>
            <a:endParaRPr lang="en-US" sz="1400" dirty="0"/>
          </a:p>
        </p:txBody>
      </p:sp>
      <p:sp>
        <p:nvSpPr>
          <p:cNvPr id="29" name="Regla 6 fondo"/>
          <p:cNvSpPr/>
          <p:nvPr/>
        </p:nvSpPr>
        <p:spPr>
          <a:xfrm>
            <a:off x="8092440" y="41148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Regla 6 círculo"/>
          <p:cNvSpPr/>
          <p:nvPr/>
        </p:nvSpPr>
        <p:spPr>
          <a:xfrm>
            <a:off x="8366760" y="4389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Regla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526280"/>
            <a:ext cx="292608" cy="292608"/>
          </a:xfrm>
          <a:prstGeom prst="rect">
            <a:avLst/>
          </a:prstGeom>
        </p:spPr>
      </p:pic>
      <p:sp>
        <p:nvSpPr>
          <p:cNvPr id="32" name="Regla 6 título"/>
          <p:cNvSpPr txBox="1"/>
          <p:nvPr/>
        </p:nvSpPr>
        <p:spPr>
          <a:xfrm>
            <a:off x="8366760" y="5102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Historial protegido</a:t>
            </a:r>
            <a:endParaRPr lang="en-US" sz="1800" dirty="0"/>
          </a:p>
        </p:txBody>
      </p:sp>
      <p:sp>
        <p:nvSpPr>
          <p:cNvPr id="33" name="Regla 6 texto"/>
          <p:cNvSpPr txBox="1"/>
          <p:nvPr/>
        </p:nvSpPr>
        <p:spPr>
          <a:xfrm>
            <a:off x="8366760" y="55138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 un registro tiene historial, se desactiva en lugar de borrarse.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498080" y="3657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CONTROL DE VERSIONES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Historial en GitHub</a:t>
            </a:r>
            <a:endParaRPr lang="en-US" sz="3200" dirty="0"/>
          </a:p>
        </p:txBody>
      </p:sp>
      <p:sp>
        <p:nvSpPr>
          <p:cNvPr id="4" name="Línea de tiempo"/>
          <p:cNvSpPr/>
          <p:nvPr/>
        </p:nvSpPr>
        <p:spPr>
          <a:xfrm>
            <a:off x="2194560" y="3063240"/>
            <a:ext cx="7808976" cy="0"/>
          </a:xfrm>
          <a:prstGeom prst="line">
            <a:avLst/>
          </a:prstGeom>
          <a:noFill/>
          <a:ln w="38100">
            <a:solidFill>
              <a:srgbClr val="D0D5DD"/>
            </a:solidFill>
            <a:prstDash val="solid"/>
          </a:ln>
        </p:spPr>
      </p:sp>
      <p:sp>
        <p:nvSpPr>
          <p:cNvPr id="5" name="Hito Estructura"/>
          <p:cNvSpPr/>
          <p:nvPr/>
        </p:nvSpPr>
        <p:spPr>
          <a:xfrm>
            <a:off x="1965960" y="2834640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Fecha Estructura"/>
          <p:cNvSpPr txBox="1"/>
          <p:nvPr/>
        </p:nvSpPr>
        <p:spPr>
          <a:xfrm>
            <a:off x="10972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 sep</a:t>
            </a:r>
            <a:endParaRPr lang="en-US" sz="1400" dirty="0"/>
          </a:p>
        </p:txBody>
      </p:sp>
      <p:sp>
        <p:nvSpPr>
          <p:cNvPr id="7" name="Detalle Estructura"/>
          <p:cNvSpPr txBox="1"/>
          <p:nvPr/>
        </p:nvSpPr>
        <p:spPr>
          <a:xfrm>
            <a:off x="822960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Estructura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Repositorio y carpetas del proyecto</a:t>
            </a:r>
            <a:endParaRPr lang="en-US" sz="2200" dirty="0"/>
          </a:p>
        </p:txBody>
      </p:sp>
      <p:sp>
        <p:nvSpPr>
          <p:cNvPr id="8" name="Hito v2.0"/>
          <p:cNvSpPr/>
          <p:nvPr/>
        </p:nvSpPr>
        <p:spPr>
          <a:xfrm>
            <a:off x="5870448" y="2834640"/>
            <a:ext cx="457200" cy="4572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Fecha v2.0"/>
          <p:cNvSpPr txBox="1"/>
          <p:nvPr/>
        </p:nvSpPr>
        <p:spPr>
          <a:xfrm>
            <a:off x="5001768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28 sep</a:t>
            </a:r>
            <a:endParaRPr lang="en-US" sz="1400" dirty="0"/>
          </a:p>
        </p:txBody>
      </p:sp>
      <p:sp>
        <p:nvSpPr>
          <p:cNvPr id="10" name="Detalle v2.0"/>
          <p:cNvSpPr txBox="1"/>
          <p:nvPr/>
        </p:nvSpPr>
        <p:spPr>
          <a:xfrm>
            <a:off x="4727448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v2.0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Modelos y conexión a PostgreSQL</a:t>
            </a:r>
            <a:endParaRPr lang="en-US" sz="2200" dirty="0"/>
          </a:p>
        </p:txBody>
      </p:sp>
      <p:sp>
        <p:nvSpPr>
          <p:cNvPr id="11" name="Hito v3.0"/>
          <p:cNvSpPr/>
          <p:nvPr/>
        </p:nvSpPr>
        <p:spPr>
          <a:xfrm>
            <a:off x="9774936" y="283464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Fecha v3.0"/>
          <p:cNvSpPr txBox="1"/>
          <p:nvPr/>
        </p:nvSpPr>
        <p:spPr>
          <a:xfrm>
            <a:off x="8906256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29 sep</a:t>
            </a:r>
            <a:endParaRPr lang="en-US" sz="1400" dirty="0"/>
          </a:p>
        </p:txBody>
      </p:sp>
      <p:sp>
        <p:nvSpPr>
          <p:cNvPr id="13" name="Detalle v3.0"/>
          <p:cNvSpPr txBox="1"/>
          <p:nvPr/>
        </p:nvSpPr>
        <p:spPr>
          <a:xfrm>
            <a:off x="8631936" y="3520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v3.0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CRUD con reglas de negocio y pruebas</a:t>
            </a:r>
            <a:endParaRPr lang="en-US" sz="2200" dirty="0"/>
          </a:p>
        </p:txBody>
      </p:sp>
      <p:sp>
        <p:nvSpPr>
          <p:cNvPr id="14" name="Enlace al repositorio">
            <a:hlinkClick r:id="rId1" tooltip=""/>
          </p:cNvPr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github.com/edrianlxcid/TimeBank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1031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Siguiente avance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6576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Inicio de sesión con JWT y contraseñas seguras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Roles: Administrador y Usuario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Frontend en Angular conectado a la API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Gracias por su atención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Q TimeBank">
  <a:themeElements>
    <a:clrScheme name="ITQ TimeBank">
      <a:dk1>
        <a:srgbClr val="1B2333"/>
      </a:dk1>
      <a:lt1>
        <a:srgbClr val="FFFFFF"/>
      </a:lt1>
      <a:dk2>
        <a:srgbClr val="475467"/>
      </a:dk2>
      <a:lt2>
        <a:srgbClr val="F2F4F7"/>
      </a:lt2>
      <a:accent1>
        <a:srgbClr val="E6333E"/>
      </a:accent1>
      <a:accent2>
        <a:srgbClr val="1B2333"/>
      </a:accent2>
      <a:accent3>
        <a:srgbClr val="0F766E"/>
      </a:accent3>
      <a:accent4>
        <a:srgbClr val="F5B301"/>
      </a:accent4>
      <a:accent5>
        <a:srgbClr val="98A2B3"/>
      </a:accent5>
      <a:accent6>
        <a:srgbClr val="D0D5DD"/>
      </a:accent6>
      <a:hlink>
        <a:srgbClr val="E6333E"/>
      </a:hlink>
      <a:folHlink>
        <a:srgbClr val="B42318"/>
      </a:folHlink>
    </a:clrScheme>
    <a:fontScheme name="ITQ TimeBan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Instituto Superior Tecnológico Quito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TimeBank – Primer avance</dc:title>
  <dc:subject>PptxGenJS Presentation</dc:subject>
  <dc:creator>Kevin Adrián Quiñonez Rocha y Orlando Eloy Trujillo</dc:creator>
  <cp:lastModifiedBy>Kevin Adrián Quiñonez Rocha y Orlando Eloy Trujillo</cp:lastModifiedBy>
  <cp:revision>1</cp:revision>
  <dcterms:created xsi:type="dcterms:W3CDTF">2026-10-07T18:07:17Z</dcterms:created>
  <dcterms:modified xsi:type="dcterms:W3CDTF">2026-10-07T18:07:17Z</dcterms:modified>
</cp:coreProperties>
</file>