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c1912088-25f6-6934-b403-148e0c230b1f}">
          <p14:sldIdLst>
            <p14:sldId id="256"/>
          </p14:sldIdLst>
        </p14:section>
        <p14:section name="Avance" id="{8fd8df28-3152-d2a6-f0db-c1a1db142bc9}">
          <p14:sldIdLst>
            <p14:sldId id="257"/>
          </p14:sldIdLst>
        </p14:section>
        <p14:section name="Backend" id="{8d18e03a-0bfe-a32e-0aec-a004991ef5a0}">
          <p14:sldIdLst>
            <p14:sldId id="258"/>
            <p14:sldId id="259"/>
            <p14:sldId id="260"/>
          </p14:sldIdLst>
        </p14:section>
        <p14:section name="Frontend" id="{25a7843c-710a-585f-4dc8-a8a7d5842276}">
          <p14:sldIdLst>
            <p14:sldId id="261"/>
            <p14:sldId id="262"/>
            <p14:sldId id="263"/>
            <p14:sldId id="264"/>
          </p14:sldIdLst>
        </p14:section>
        <p14:section name="Demostración" id="{f65738bd-9be8-c000-068b-bf382ac9b5aa}">
          <p14:sldIdLst>
            <p14:sldId id="265"/>
            <p14:sldId id="266"/>
          </p14:sldIdLst>
        </p14:section>
        <p14:section name="Cierre" id="{e2fabb8b-4811-8d60-d039-71a0c3ff329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saluda, presenta el proyecto y los tres temas del segundo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Eloy: repasa la línea de tiempo. Todo está en GitHub con un commit por cada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explica el flujo. Mostrar en Postman POST /api/auth/login y el token que devuelve.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Eloy: muestra que registrar una clave débil devuelve 400 con un mensaje claro.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en Postman, sin token GET /api/users da 401; con token de Usuario, crear categoría da 403; con Administrador, 201.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Eloy: explica cada pieza. Lo importante: el token se agrega solo, no hay que copiarlo a mano como en Postman.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en vivo, primero una contraseña mal escrita (mensaje de error) y luego la correcta.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Eloy: muestra el saldo de horas y el rol que vienen de la API (GET /api/auth/me).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esta es la evidencia de la Actividad 4.3: las categorías del navegador son las mismas de pgAdmin.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exponer: PostgreSQL encendido, dotnet run, npm start y Postman abierto con las peticiones listas.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Eloy: abre GitHub y muestra los commits del parcial.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cierra y abre espacio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56455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3" name="Image 0" descr="/tmp/claude-0/-home-claude/9fbcf92b-c261-5d9a-bebc-b0ad23150f66/scratchpad/deck/itq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0" cy="64028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600200"/>
            <a:ext cx="6675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01168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3611880"/>
            <a:ext cx="6675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548640" y="4800600"/>
            <a:ext cx="66751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fbcf92b-c261-5d9a-bebc-b0ad23150f66/scratchpad/deck/itq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2011680" cy="440193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b="1" spc="200" kern="0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fbcf92b-c261-5d9a-bebc-b0ad23150f66/scratchpad/deck/itq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0" cy="6402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73152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rianlxcid/TimeBank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6002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PROYECTO FINAL · SEGUNDO AVANCE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0116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TimeBank</a:t>
            </a:r>
            <a:endParaRPr lang="en-US" sz="48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36118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Seguridad con JWT, roles y frontend en Angular conectado a la API</a:t>
            </a:r>
            <a:endParaRPr lang="en-US" sz="20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48640" y="48006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Kevin Adrián Quiñonez Rocha · Orlando Eloy Trujillo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Ambientes Computacionales · Desarrollo de Software · 4.º nivel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Docente: Ing. Eldis Gabriel Nicolalde Navarrete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Quito, 7 de octubre de 2026</a:t>
            </a:r>
            <a:endParaRPr lang="en-US" sz="1400" dirty="0"/>
          </a:p>
        </p:txBody>
      </p:sp>
      <p:sp>
        <p:nvSpPr>
          <p:cNvPr id="6" name="Pilar 1 círculo"/>
          <p:cNvSpPr/>
          <p:nvPr/>
        </p:nvSpPr>
        <p:spPr>
          <a:xfrm>
            <a:off x="8366760" y="14173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ilar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645920"/>
            <a:ext cx="411480" cy="411480"/>
          </a:xfrm>
          <a:prstGeom prst="rect">
            <a:avLst/>
          </a:prstGeom>
        </p:spPr>
      </p:pic>
      <p:sp>
        <p:nvSpPr>
          <p:cNvPr id="8" name="Pilar 1"/>
          <p:cNvSpPr txBox="1"/>
          <p:nvPr/>
        </p:nvSpPr>
        <p:spPr>
          <a:xfrm>
            <a:off x="941832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Login con JWT</a:t>
            </a:r>
            <a:endParaRPr lang="en-US" sz="2200" dirty="0"/>
          </a:p>
        </p:txBody>
      </p:sp>
      <p:sp>
        <p:nvSpPr>
          <p:cNvPr id="9" name="Pilar 2 círculo"/>
          <p:cNvSpPr/>
          <p:nvPr/>
        </p:nvSpPr>
        <p:spPr>
          <a:xfrm>
            <a:off x="8366760" y="28346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ilar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3063240"/>
            <a:ext cx="411480" cy="411480"/>
          </a:xfrm>
          <a:prstGeom prst="rect">
            <a:avLst/>
          </a:prstGeom>
        </p:spPr>
      </p:pic>
      <p:sp>
        <p:nvSpPr>
          <p:cNvPr id="11" name="Pilar 2"/>
          <p:cNvSpPr txBox="1"/>
          <p:nvPr/>
        </p:nvSpPr>
        <p:spPr>
          <a:xfrm>
            <a:off x="9418320" y="28346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Roles</a:t>
            </a:r>
            <a:endParaRPr lang="en-US" sz="2200" dirty="0"/>
          </a:p>
        </p:txBody>
      </p:sp>
      <p:sp>
        <p:nvSpPr>
          <p:cNvPr id="12" name="Pilar 3 círculo"/>
          <p:cNvSpPr/>
          <p:nvPr/>
        </p:nvSpPr>
        <p:spPr>
          <a:xfrm>
            <a:off x="8366760" y="42519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Pilar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480560"/>
            <a:ext cx="411480" cy="411480"/>
          </a:xfrm>
          <a:prstGeom prst="rect">
            <a:avLst/>
          </a:prstGeom>
        </p:spPr>
      </p:pic>
      <p:sp>
        <p:nvSpPr>
          <p:cNvPr id="14" name="Pilar 3"/>
          <p:cNvSpPr txBox="1"/>
          <p:nvPr/>
        </p:nvSpPr>
        <p:spPr>
          <a:xfrm>
            <a:off x="9418320" y="4251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Angular + API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DEL PRIMER AL SEGUNDO AVANCE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se agregó en este parcial</a:t>
            </a:r>
            <a:endParaRPr lang="en-US" sz="3200" dirty="0"/>
          </a:p>
        </p:txBody>
      </p:sp>
      <p:sp>
        <p:nvSpPr>
          <p:cNvPr id="4" name="Línea de tiempo"/>
          <p:cNvSpPr/>
          <p:nvPr/>
        </p:nvSpPr>
        <p:spPr>
          <a:xfrm>
            <a:off x="1280160" y="3154680"/>
            <a:ext cx="9601200" cy="0"/>
          </a:xfrm>
          <a:prstGeom prst="line">
            <a:avLst/>
          </a:prstGeom>
          <a:noFill/>
          <a:ln w="38100">
            <a:solidFill>
              <a:srgbClr val="D0D5DD"/>
            </a:solidFill>
            <a:prstDash val="solid"/>
          </a:ln>
        </p:spPr>
      </p:sp>
      <p:sp>
        <p:nvSpPr>
          <p:cNvPr id="5" name="Hito 1"/>
          <p:cNvSpPr/>
          <p:nvPr/>
        </p:nvSpPr>
        <p:spPr>
          <a:xfrm>
            <a:off x="1078992" y="2953512"/>
            <a:ext cx="402336" cy="402336"/>
          </a:xfrm>
          <a:prstGeom prst="ellipse">
            <a:avLst/>
          </a:prstGeom>
          <a:solidFill>
            <a:schemeClr val="accent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Fecha 1"/>
          <p:cNvSpPr txBox="1"/>
          <p:nvPr/>
        </p:nvSpPr>
        <p:spPr>
          <a:xfrm>
            <a:off x="2286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29 sep</a:t>
            </a:r>
            <a:endParaRPr lang="en-US" sz="1400" dirty="0"/>
          </a:p>
        </p:txBody>
      </p:sp>
      <p:sp>
        <p:nvSpPr>
          <p:cNvPr id="7" name="Detalle 1"/>
          <p:cNvSpPr txBox="1"/>
          <p:nvPr/>
        </p:nvSpPr>
        <p:spPr>
          <a:xfrm>
            <a:off x="182880" y="3611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v3.0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CRUD de la API (primer avance)</a:t>
            </a:r>
            <a:endParaRPr lang="en-US" sz="1900" dirty="0"/>
          </a:p>
        </p:txBody>
      </p:sp>
      <p:sp>
        <p:nvSpPr>
          <p:cNvPr id="8" name="Hito 2"/>
          <p:cNvSpPr/>
          <p:nvPr/>
        </p:nvSpPr>
        <p:spPr>
          <a:xfrm>
            <a:off x="3479292" y="2953512"/>
            <a:ext cx="402336" cy="402336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Fecha 2"/>
          <p:cNvSpPr txBox="1"/>
          <p:nvPr/>
        </p:nvSpPr>
        <p:spPr>
          <a:xfrm>
            <a:off x="26289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 oct</a:t>
            </a:r>
            <a:endParaRPr lang="en-US" sz="1400" dirty="0"/>
          </a:p>
        </p:txBody>
      </p:sp>
      <p:sp>
        <p:nvSpPr>
          <p:cNvPr id="10" name="Detalle 2"/>
          <p:cNvSpPr txBox="1"/>
          <p:nvPr/>
        </p:nvSpPr>
        <p:spPr>
          <a:xfrm>
            <a:off x="2583180" y="3611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Login JWT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Registro, inicio de sesión y sesiones</a:t>
            </a:r>
            <a:endParaRPr lang="en-US" sz="1900" dirty="0"/>
          </a:p>
        </p:txBody>
      </p:sp>
      <p:sp>
        <p:nvSpPr>
          <p:cNvPr id="11" name="Hito 3"/>
          <p:cNvSpPr/>
          <p:nvPr/>
        </p:nvSpPr>
        <p:spPr>
          <a:xfrm>
            <a:off x="5879592" y="2953512"/>
            <a:ext cx="402336" cy="402336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Fecha 3"/>
          <p:cNvSpPr txBox="1"/>
          <p:nvPr/>
        </p:nvSpPr>
        <p:spPr>
          <a:xfrm>
            <a:off x="50292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 oct</a:t>
            </a:r>
            <a:endParaRPr lang="en-US" sz="1400" dirty="0"/>
          </a:p>
        </p:txBody>
      </p:sp>
      <p:sp>
        <p:nvSpPr>
          <p:cNvPr id="13" name="Detalle 3"/>
          <p:cNvSpPr txBox="1"/>
          <p:nvPr/>
        </p:nvSpPr>
        <p:spPr>
          <a:xfrm>
            <a:off x="4983480" y="3611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Roles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Administrador y Usuario, contraseña segura</a:t>
            </a:r>
            <a:endParaRPr lang="en-US" sz="1900" dirty="0"/>
          </a:p>
        </p:txBody>
      </p:sp>
      <p:sp>
        <p:nvSpPr>
          <p:cNvPr id="14" name="Hito 4"/>
          <p:cNvSpPr/>
          <p:nvPr/>
        </p:nvSpPr>
        <p:spPr>
          <a:xfrm>
            <a:off x="8279892" y="2953512"/>
            <a:ext cx="402336" cy="402336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Fecha 4"/>
          <p:cNvSpPr txBox="1"/>
          <p:nvPr/>
        </p:nvSpPr>
        <p:spPr>
          <a:xfrm>
            <a:off x="74295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 oct</a:t>
            </a:r>
            <a:endParaRPr lang="en-US" sz="1400" dirty="0"/>
          </a:p>
        </p:txBody>
      </p:sp>
      <p:sp>
        <p:nvSpPr>
          <p:cNvPr id="16" name="Detalle 4"/>
          <p:cNvSpPr txBox="1"/>
          <p:nvPr/>
        </p:nvSpPr>
        <p:spPr>
          <a:xfrm>
            <a:off x="7383780" y="3611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Conexión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Angular consume la API (Actividad 4.3)</a:t>
            </a:r>
            <a:endParaRPr lang="en-US" sz="1900" dirty="0"/>
          </a:p>
        </p:txBody>
      </p:sp>
      <p:sp>
        <p:nvSpPr>
          <p:cNvPr id="17" name="Hito 5"/>
          <p:cNvSpPr/>
          <p:nvPr/>
        </p:nvSpPr>
        <p:spPr>
          <a:xfrm>
            <a:off x="10680192" y="2953512"/>
            <a:ext cx="402336" cy="402336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Fecha 5"/>
          <p:cNvSpPr txBox="1"/>
          <p:nvPr/>
        </p:nvSpPr>
        <p:spPr>
          <a:xfrm>
            <a:off x="98298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 oct</a:t>
            </a:r>
            <a:endParaRPr lang="en-US" sz="1400" dirty="0"/>
          </a:p>
        </p:txBody>
      </p:sp>
      <p:sp>
        <p:nvSpPr>
          <p:cNvPr id="19" name="Detalle 5"/>
          <p:cNvSpPr txBox="1"/>
          <p:nvPr/>
        </p:nvSpPr>
        <p:spPr>
          <a:xfrm>
            <a:off x="9784080" y="3611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Login Angular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Pantallas, token y rutas por rol (Actividad 5.3)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BACKEND · AUTENTICACIÓN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funciona el inicio de sesión</a:t>
            </a:r>
            <a:endParaRPr lang="en-US" sz="3200" dirty="0"/>
          </a:p>
        </p:txBody>
      </p:sp>
      <p:sp>
        <p:nvSpPr>
          <p:cNvPr id="4" name="Paso login 1"/>
          <p:cNvSpPr/>
          <p:nvPr/>
        </p:nvSpPr>
        <p:spPr>
          <a:xfrm>
            <a:off x="548640" y="2011680"/>
            <a:ext cx="18745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Paso login 1 texto"/>
          <p:cNvSpPr txBox="1"/>
          <p:nvPr/>
        </p:nvSpPr>
        <p:spPr>
          <a:xfrm>
            <a:off x="548640" y="2011680"/>
            <a:ext cx="18745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Angular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Correo y contraseña</a:t>
            </a:r>
            <a:endParaRPr lang="en-US" sz="1600" dirty="0"/>
          </a:p>
        </p:txBody>
      </p:sp>
      <p:sp>
        <p:nvSpPr>
          <p:cNvPr id="6" name="Flecha login 1"/>
          <p:cNvSpPr/>
          <p:nvPr/>
        </p:nvSpPr>
        <p:spPr>
          <a:xfrm>
            <a:off x="2441448" y="2628900"/>
            <a:ext cx="374904" cy="0"/>
          </a:xfrm>
          <a:prstGeom prst="line">
            <a:avLst/>
          </a:prstGeom>
          <a:noFill/>
          <a:ln w="25400">
            <a:solidFill>
              <a:srgbClr val="E6333E"/>
            </a:solidFill>
            <a:prstDash val="solid"/>
            <a:tailEnd type="triangle"/>
          </a:ln>
        </p:spPr>
      </p:sp>
      <p:sp>
        <p:nvSpPr>
          <p:cNvPr id="7" name="Paso login 2"/>
          <p:cNvSpPr/>
          <p:nvPr/>
        </p:nvSpPr>
        <p:spPr>
          <a:xfrm>
            <a:off x="2834640" y="2011680"/>
            <a:ext cx="18745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Paso login 2 texto"/>
          <p:cNvSpPr txBox="1"/>
          <p:nvPr/>
        </p:nvSpPr>
        <p:spPr>
          <a:xfrm>
            <a:off x="2834640" y="2011680"/>
            <a:ext cx="18745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POST /api/auth/login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AuthController</a:t>
            </a:r>
            <a:endParaRPr lang="en-US" sz="1600" dirty="0"/>
          </a:p>
        </p:txBody>
      </p:sp>
      <p:sp>
        <p:nvSpPr>
          <p:cNvPr id="9" name="Flecha login 2"/>
          <p:cNvSpPr/>
          <p:nvPr/>
        </p:nvSpPr>
        <p:spPr>
          <a:xfrm>
            <a:off x="4727448" y="2628900"/>
            <a:ext cx="374904" cy="0"/>
          </a:xfrm>
          <a:prstGeom prst="line">
            <a:avLst/>
          </a:prstGeom>
          <a:noFill/>
          <a:ln w="25400">
            <a:solidFill>
              <a:srgbClr val="E6333E"/>
            </a:solidFill>
            <a:prstDash val="solid"/>
            <a:tailEnd type="triangle"/>
          </a:ln>
        </p:spPr>
      </p:sp>
      <p:sp>
        <p:nvSpPr>
          <p:cNvPr id="10" name="Paso login 3"/>
          <p:cNvSpPr/>
          <p:nvPr/>
        </p:nvSpPr>
        <p:spPr>
          <a:xfrm>
            <a:off x="5120640" y="2011680"/>
            <a:ext cx="18745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Paso login 3 texto"/>
          <p:cNvSpPr txBox="1"/>
          <p:nvPr/>
        </p:nvSpPr>
        <p:spPr>
          <a:xfrm>
            <a:off x="5120640" y="2011680"/>
            <a:ext cx="18745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 la clave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PasswordHasher (hash)</a:t>
            </a:r>
            <a:endParaRPr lang="en-US" sz="1600" dirty="0"/>
          </a:p>
        </p:txBody>
      </p:sp>
      <p:sp>
        <p:nvSpPr>
          <p:cNvPr id="12" name="Flecha login 3"/>
          <p:cNvSpPr/>
          <p:nvPr/>
        </p:nvSpPr>
        <p:spPr>
          <a:xfrm>
            <a:off x="7013448" y="2628900"/>
            <a:ext cx="374904" cy="0"/>
          </a:xfrm>
          <a:prstGeom prst="line">
            <a:avLst/>
          </a:prstGeom>
          <a:noFill/>
          <a:ln w="25400">
            <a:solidFill>
              <a:srgbClr val="E6333E"/>
            </a:solidFill>
            <a:prstDash val="solid"/>
            <a:tailEnd type="triangle"/>
          </a:ln>
        </p:spPr>
      </p:sp>
      <p:sp>
        <p:nvSpPr>
          <p:cNvPr id="13" name="Paso login 4"/>
          <p:cNvSpPr/>
          <p:nvPr/>
        </p:nvSpPr>
        <p:spPr>
          <a:xfrm>
            <a:off x="7406640" y="2011680"/>
            <a:ext cx="1874520" cy="1234440"/>
          </a:xfrm>
          <a:prstGeom prst="roundRect">
            <a:avLst>
              <a:gd name="adj" fmla="val 7407"/>
            </a:avLst>
          </a:prstGeom>
          <a:solidFill>
            <a:schemeClr val="tx1"/>
          </a:solidFill>
          <a:ln w="12700">
            <a:solidFill>
              <a:srgbClr val="1B2333"/>
            </a:solidFill>
            <a:prstDash val="solid"/>
          </a:ln>
        </p:spPr>
      </p:sp>
      <p:sp>
        <p:nvSpPr>
          <p:cNvPr id="14" name="Paso login 4 texto"/>
          <p:cNvSpPr txBox="1"/>
          <p:nvPr/>
        </p:nvSpPr>
        <p:spPr>
          <a:xfrm>
            <a:off x="7406640" y="2011680"/>
            <a:ext cx="18745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Genera el JWT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Dura 120 minutos</a:t>
            </a:r>
            <a:endParaRPr lang="en-US" sz="1600" dirty="0"/>
          </a:p>
        </p:txBody>
      </p:sp>
      <p:sp>
        <p:nvSpPr>
          <p:cNvPr id="15" name="Flecha login 4"/>
          <p:cNvSpPr/>
          <p:nvPr/>
        </p:nvSpPr>
        <p:spPr>
          <a:xfrm>
            <a:off x="9299448" y="2628900"/>
            <a:ext cx="374904" cy="0"/>
          </a:xfrm>
          <a:prstGeom prst="line">
            <a:avLst/>
          </a:prstGeom>
          <a:noFill/>
          <a:ln w="25400">
            <a:solidFill>
              <a:srgbClr val="E6333E"/>
            </a:solidFill>
            <a:prstDash val="solid"/>
            <a:tailEnd type="triangle"/>
          </a:ln>
        </p:spPr>
      </p:sp>
      <p:sp>
        <p:nvSpPr>
          <p:cNvPr id="16" name="Paso login 5"/>
          <p:cNvSpPr/>
          <p:nvPr/>
        </p:nvSpPr>
        <p:spPr>
          <a:xfrm>
            <a:off x="9692640" y="2011680"/>
            <a:ext cx="18745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Paso login 5 texto"/>
          <p:cNvSpPr txBox="1"/>
          <p:nvPr/>
        </p:nvSpPr>
        <p:spPr>
          <a:xfrm>
            <a:off x="9692640" y="2011680"/>
            <a:ext cx="18745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Guarda la sesión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Tabla UserSessions</a:t>
            </a:r>
            <a:endParaRPr lang="en-US" sz="1600" dirty="0"/>
          </a:p>
        </p:txBody>
      </p:sp>
      <p:sp>
        <p:nvSpPr>
          <p:cNvPr id="18" name="Tarjeta token fondo"/>
          <p:cNvSpPr/>
          <p:nvPr/>
        </p:nvSpPr>
        <p:spPr>
          <a:xfrm>
            <a:off x="548640" y="365760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9" name="Tarjeta token círculo"/>
          <p:cNvSpPr/>
          <p:nvPr/>
        </p:nvSpPr>
        <p:spPr>
          <a:xfrm>
            <a:off x="822960" y="3931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Tarjeta token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069080"/>
            <a:ext cx="292608" cy="292608"/>
          </a:xfrm>
          <a:prstGeom prst="rect">
            <a:avLst/>
          </a:prstGeom>
        </p:spPr>
      </p:pic>
      <p:sp>
        <p:nvSpPr>
          <p:cNvPr id="21" name="Tarjeta token título"/>
          <p:cNvSpPr txBox="1"/>
          <p:nvPr/>
        </p:nvSpPr>
        <p:spPr>
          <a:xfrm>
            <a:off x="822960" y="46451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Qué lleva el token</a:t>
            </a:r>
            <a:endParaRPr lang="en-US" sz="1800" dirty="0"/>
          </a:p>
        </p:txBody>
      </p:sp>
      <p:sp>
        <p:nvSpPr>
          <p:cNvPr id="22" name="Tarjeta token texto"/>
          <p:cNvSpPr txBox="1"/>
          <p:nvPr/>
        </p:nvSpPr>
        <p:spPr>
          <a:xfrm>
            <a:off x="822960" y="505663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 del usuario (sub), correo, nombre, un identificador único (jti) y sus roles.</a:t>
            </a:r>
            <a:endParaRPr lang="en-US" sz="1400" dirty="0"/>
          </a:p>
        </p:txBody>
      </p:sp>
      <p:sp>
        <p:nvSpPr>
          <p:cNvPr id="23" name="Tarjeta mensaje fondo"/>
          <p:cNvSpPr/>
          <p:nvPr/>
        </p:nvSpPr>
        <p:spPr>
          <a:xfrm>
            <a:off x="4320540" y="365760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4" name="Tarjeta mensaje círculo"/>
          <p:cNvSpPr/>
          <p:nvPr/>
        </p:nvSpPr>
        <p:spPr>
          <a:xfrm>
            <a:off x="4594860" y="3931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Tarjeta mensaje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4069080"/>
            <a:ext cx="292608" cy="292608"/>
          </a:xfrm>
          <a:prstGeom prst="rect">
            <a:avLst/>
          </a:prstGeom>
        </p:spPr>
      </p:pic>
      <p:sp>
        <p:nvSpPr>
          <p:cNvPr id="26" name="Tarjeta mensaje título"/>
          <p:cNvSpPr txBox="1"/>
          <p:nvPr/>
        </p:nvSpPr>
        <p:spPr>
          <a:xfrm>
            <a:off x="4594860" y="46451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Mismo mensaje de error</a:t>
            </a:r>
            <a:endParaRPr lang="en-US" sz="1800" dirty="0"/>
          </a:p>
        </p:txBody>
      </p:sp>
      <p:sp>
        <p:nvSpPr>
          <p:cNvPr id="27" name="Tarjeta mensaje texto"/>
          <p:cNvSpPr txBox="1"/>
          <p:nvPr/>
        </p:nvSpPr>
        <p:spPr>
          <a:xfrm>
            <a:off x="4594860" y="505663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 falla el correo o la contraseña, la API responde igual (401). Así no da pistas a un atacante.</a:t>
            </a:r>
            <a:endParaRPr lang="en-US" sz="1400" dirty="0"/>
          </a:p>
        </p:txBody>
      </p:sp>
      <p:sp>
        <p:nvSpPr>
          <p:cNvPr id="28" name="Tarjeta logout fondo"/>
          <p:cNvSpPr/>
          <p:nvPr/>
        </p:nvSpPr>
        <p:spPr>
          <a:xfrm>
            <a:off x="8092440" y="365760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9" name="Tarjeta logout círculo"/>
          <p:cNvSpPr/>
          <p:nvPr/>
        </p:nvSpPr>
        <p:spPr>
          <a:xfrm>
            <a:off x="8366760" y="3931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Tarjeta logout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069080"/>
            <a:ext cx="292608" cy="292608"/>
          </a:xfrm>
          <a:prstGeom prst="rect">
            <a:avLst/>
          </a:prstGeom>
        </p:spPr>
      </p:pic>
      <p:sp>
        <p:nvSpPr>
          <p:cNvPr id="31" name="Tarjeta logout título"/>
          <p:cNvSpPr txBox="1"/>
          <p:nvPr/>
        </p:nvSpPr>
        <p:spPr>
          <a:xfrm>
            <a:off x="8366760" y="46451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Cerrar sesión de verdad</a:t>
            </a:r>
            <a:endParaRPr lang="en-US" sz="1800" dirty="0"/>
          </a:p>
        </p:txBody>
      </p:sp>
      <p:sp>
        <p:nvSpPr>
          <p:cNvPr id="32" name="Tarjeta logout texto"/>
          <p:cNvSpPr txBox="1"/>
          <p:nvPr/>
        </p:nvSpPr>
        <p:spPr>
          <a:xfrm>
            <a:off x="8366760" y="505663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 hacer logout se revoca el jti; aunque alguien copie el token, ya no sirve.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BACKEND · /api/auth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Endpoints de cuenta y contraseña segura</a:t>
            </a:r>
            <a:endParaRPr lang="en-US" sz="3200" dirty="0"/>
          </a:p>
        </p:txBody>
      </p:sp>
      <p:graphicFrame>
        <p:nvGraphicFramePr>
          <p:cNvPr id="5" name="Tabla de endpoints de autentica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 qué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/api/auth/register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Crear cuenta con rol Usuario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/api/auth/login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Recibir el token y el perfil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GET / PUT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/api/auth/me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Ver o editar mi perfil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/api/auth/change-password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Cambiar clave y cerrar otras sesiones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/api/auth/sessions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Ver mis sesiones abiertas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/api/auth/logout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Cerrar la sesión actual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nel contraseña segura"/>
          <p:cNvSpPr/>
          <p:nvPr/>
        </p:nvSpPr>
        <p:spPr>
          <a:xfrm>
            <a:off x="7863840" y="1920240"/>
            <a:ext cx="3749040" cy="356616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/>
        </p:spPr>
      </p:sp>
      <p:sp>
        <p:nvSpPr>
          <p:cNvPr id="6" name="Reglas de contraseña"/>
          <p:cNvSpPr txBox="1"/>
          <p:nvPr/>
        </p:nvSpPr>
        <p:spPr>
          <a:xfrm>
            <a:off x="8138160" y="210312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</a:rPr>
              <a:t>[StrongPassword]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Entre 8 y 64 caracteres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Mayúscula y minúscula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Al menos un número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Un carácter especial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Sin espacios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accent6"/>
                </a:solidFill>
              </a:rPr>
              <a:t>Ejemplo válido: Clave2026*</a:t>
            </a:r>
            <a:endParaRPr lang="en-US" sz="1500" dirty="0"/>
          </a:p>
        </p:txBody>
      </p:sp>
      <p:sp>
        <p:nvSpPr>
          <p:cNvPr id="7" name="Nota hash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La contraseña nunca se guarda en texto plano: se almacena con hash.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BACKEND · AUTORIZACIÓN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Dos roles, permisos distintos</a:t>
            </a:r>
            <a:endParaRPr lang="en-US" sz="3200" dirty="0"/>
          </a:p>
        </p:txBody>
      </p:sp>
      <p:sp>
        <p:nvSpPr>
          <p:cNvPr id="4" name="Rol Administrador fondo"/>
          <p:cNvSpPr/>
          <p:nvPr/>
        </p:nvSpPr>
        <p:spPr>
          <a:xfrm>
            <a:off x="548640" y="1920240"/>
            <a:ext cx="4023360" cy="3977640"/>
          </a:xfrm>
          <a:prstGeom prst="roundRect">
            <a:avLst>
              <a:gd name="adj" fmla="val 2759"/>
            </a:avLst>
          </a:prstGeom>
          <a:solidFill>
            <a:schemeClr val="tx1"/>
          </a:solidFill>
          <a:ln/>
        </p:spPr>
      </p:sp>
      <p:sp>
        <p:nvSpPr>
          <p:cNvPr id="5" name="Rol Administrador título"/>
          <p:cNvSpPr txBox="1"/>
          <p:nvPr/>
        </p:nvSpPr>
        <p:spPr>
          <a:xfrm>
            <a:off x="868680" y="2148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Administrador</a:t>
            </a:r>
            <a:endParaRPr lang="en-US" sz="2400" dirty="0"/>
          </a:p>
        </p:txBody>
      </p:sp>
      <p:sp>
        <p:nvSpPr>
          <p:cNvPr id="6" name="Rol Administrador permisos"/>
          <p:cNvSpPr txBox="1"/>
          <p:nvPr/>
        </p:nvSpPr>
        <p:spPr>
          <a:xfrm>
            <a:off x="868680" y="27889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Crea, edita y elimina categorías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Gestiona usuarios y les asigna roles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Ve todas las solicitudes y movimientos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Usuario semilla: admin@timebank.com</a:t>
            </a:r>
            <a:endParaRPr lang="en-US" sz="1500" dirty="0"/>
          </a:p>
        </p:txBody>
      </p:sp>
      <p:sp>
        <p:nvSpPr>
          <p:cNvPr id="7" name="Rol Usuario fondo"/>
          <p:cNvSpPr/>
          <p:nvPr/>
        </p:nvSpPr>
        <p:spPr>
          <a:xfrm>
            <a:off x="4800600" y="1920240"/>
            <a:ext cx="4023360" cy="39776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8" name="Rol Usuario título"/>
          <p:cNvSpPr txBox="1"/>
          <p:nvPr/>
        </p:nvSpPr>
        <p:spPr>
          <a:xfrm>
            <a:off x="5120640" y="2148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Usuario</a:t>
            </a:r>
            <a:endParaRPr lang="en-US" sz="2400" dirty="0"/>
          </a:p>
        </p:txBody>
      </p:sp>
      <p:sp>
        <p:nvSpPr>
          <p:cNvPr id="9" name="Rol Usuario permisos"/>
          <p:cNvSpPr txBox="1"/>
          <p:nvPr/>
        </p:nvSpPr>
        <p:spPr>
          <a:xfrm>
            <a:off x="5120640" y="27889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Rol de quien se registra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Ofrece servicios y pide los de otros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Acepta, rechaza o completa sus solicitudes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Solo ve sus propios movimientos de horas</a:t>
            </a:r>
            <a:endParaRPr lang="en-US" sz="1500" dirty="0"/>
          </a:p>
        </p:txBody>
      </p:sp>
      <p:sp>
        <p:nvSpPr>
          <p:cNvPr id="10" name="Código 401"/>
          <p:cNvSpPr txBox="1"/>
          <p:nvPr/>
        </p:nvSpPr>
        <p:spPr>
          <a:xfrm>
            <a:off x="9189720" y="1920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401</a:t>
            </a:r>
            <a:endParaRPr lang="en-US" sz="6400" dirty="0"/>
          </a:p>
        </p:txBody>
      </p:sp>
      <p:sp>
        <p:nvSpPr>
          <p:cNvPr id="11" name="Código 401 significado"/>
          <p:cNvSpPr txBox="1"/>
          <p:nvPr/>
        </p:nvSpPr>
        <p:spPr>
          <a:xfrm>
            <a:off x="9189720" y="3017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Sin token o token vencido</a:t>
            </a:r>
            <a:endParaRPr lang="en-US" sz="1500" dirty="0"/>
          </a:p>
        </p:txBody>
      </p:sp>
      <p:sp>
        <p:nvSpPr>
          <p:cNvPr id="12" name="Código 403"/>
          <p:cNvSpPr txBox="1"/>
          <p:nvPr/>
        </p:nvSpPr>
        <p:spPr>
          <a:xfrm>
            <a:off x="9189720" y="39776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403</a:t>
            </a:r>
            <a:endParaRPr lang="en-US" sz="6400" dirty="0"/>
          </a:p>
        </p:txBody>
      </p:sp>
      <p:sp>
        <p:nvSpPr>
          <p:cNvPr id="13" name="Código 403 significado"/>
          <p:cNvSpPr txBox="1"/>
          <p:nvPr/>
        </p:nvSpPr>
        <p:spPr>
          <a:xfrm>
            <a:off x="9189720" y="50749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 token, pero sin permiso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FRONTEND · ANGULAR 22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Piezas del login en Angular</a:t>
            </a:r>
            <a:endParaRPr lang="en-US" sz="3200" dirty="0"/>
          </a:p>
        </p:txBody>
      </p:sp>
      <p:sp>
        <p:nvSpPr>
          <p:cNvPr id="4" name="Pieza AuthService fondo"/>
          <p:cNvSpPr/>
          <p:nvPr/>
        </p:nvSpPr>
        <p:spPr>
          <a:xfrm>
            <a:off x="548640" y="18745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Pieza AuthService círculo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ieza AuthService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292608" cy="292608"/>
          </a:xfrm>
          <a:prstGeom prst="rect">
            <a:avLst/>
          </a:prstGeom>
        </p:spPr>
      </p:pic>
      <p:sp>
        <p:nvSpPr>
          <p:cNvPr id="7" name="Pieza AuthService título"/>
          <p:cNvSpPr txBox="1"/>
          <p:nvPr/>
        </p:nvSpPr>
        <p:spPr>
          <a:xfrm>
            <a:off x="822960" y="286207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AuthService</a:t>
            </a:r>
            <a:endParaRPr lang="en-US" sz="1800" dirty="0"/>
          </a:p>
        </p:txBody>
      </p:sp>
      <p:sp>
        <p:nvSpPr>
          <p:cNvPr id="8" name="Pieza AuthService texto"/>
          <p:cNvSpPr txBox="1"/>
          <p:nvPr/>
        </p:nvSpPr>
        <p:spPr>
          <a:xfrm>
            <a:off x="822960" y="327355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Hace el login, guarda el token en localStorage, cierra sesión y sabe qué rol tiene el usuario.</a:t>
            </a:r>
            <a:endParaRPr lang="en-US" sz="1400" dirty="0"/>
          </a:p>
        </p:txBody>
      </p:sp>
      <p:sp>
        <p:nvSpPr>
          <p:cNvPr id="9" name="Pieza Interceptor fondo"/>
          <p:cNvSpPr/>
          <p:nvPr/>
        </p:nvSpPr>
        <p:spPr>
          <a:xfrm>
            <a:off x="6172200" y="18745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Pieza Interceptor círculo"/>
          <p:cNvSpPr/>
          <p:nvPr/>
        </p:nvSpPr>
        <p:spPr>
          <a:xfrm>
            <a:off x="6446520" y="21488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ieza Interceptor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6000"/>
            <a:ext cx="292608" cy="292608"/>
          </a:xfrm>
          <a:prstGeom prst="rect">
            <a:avLst/>
          </a:prstGeom>
        </p:spPr>
      </p:pic>
      <p:sp>
        <p:nvSpPr>
          <p:cNvPr id="12" name="Pieza Interceptor título"/>
          <p:cNvSpPr txBox="1"/>
          <p:nvPr/>
        </p:nvSpPr>
        <p:spPr>
          <a:xfrm>
            <a:off x="6446520" y="286207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Interceptor</a:t>
            </a:r>
            <a:endParaRPr lang="en-US" sz="1800" dirty="0"/>
          </a:p>
        </p:txBody>
      </p:sp>
      <p:sp>
        <p:nvSpPr>
          <p:cNvPr id="13" name="Pieza Interceptor texto"/>
          <p:cNvSpPr txBox="1"/>
          <p:nvPr/>
        </p:nvSpPr>
        <p:spPr>
          <a:xfrm>
            <a:off x="6446520" y="327355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Agrega Authorization: Bearer a cada petición. Si la API responde 401, vuelve al login.</a:t>
            </a:r>
            <a:endParaRPr lang="en-US" sz="1400" dirty="0"/>
          </a:p>
        </p:txBody>
      </p:sp>
      <p:sp>
        <p:nvSpPr>
          <p:cNvPr id="14" name="Pieza Guards fondo"/>
          <p:cNvSpPr/>
          <p:nvPr/>
        </p:nvSpPr>
        <p:spPr>
          <a:xfrm>
            <a:off x="548640" y="41148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Pieza Guards círculo"/>
          <p:cNvSpPr/>
          <p:nvPr/>
        </p:nvSpPr>
        <p:spPr>
          <a:xfrm>
            <a:off x="822960" y="4389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ieza Guards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26280"/>
            <a:ext cx="292608" cy="292608"/>
          </a:xfrm>
          <a:prstGeom prst="rect">
            <a:avLst/>
          </a:prstGeom>
        </p:spPr>
      </p:pic>
      <p:sp>
        <p:nvSpPr>
          <p:cNvPr id="17" name="Pieza Guards título"/>
          <p:cNvSpPr txBox="1"/>
          <p:nvPr/>
        </p:nvSpPr>
        <p:spPr>
          <a:xfrm>
            <a:off x="822960" y="510235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Guards</a:t>
            </a:r>
            <a:endParaRPr lang="en-US" sz="1800" dirty="0"/>
          </a:p>
        </p:txBody>
      </p:sp>
      <p:sp>
        <p:nvSpPr>
          <p:cNvPr id="18" name="Pieza Guards texto"/>
          <p:cNvSpPr txBox="1"/>
          <p:nvPr/>
        </p:nvSpPr>
        <p:spPr>
          <a:xfrm>
            <a:off x="822960" y="551383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authGuard pide sesión; roleGuard deja entrar a /usuarios solo al Administrador.</a:t>
            </a:r>
            <a:endParaRPr lang="en-US" sz="1400" dirty="0"/>
          </a:p>
        </p:txBody>
      </p:sp>
      <p:sp>
        <p:nvSpPr>
          <p:cNvPr id="19" name="Pieza Rutas y pantallas fondo"/>
          <p:cNvSpPr/>
          <p:nvPr/>
        </p:nvSpPr>
        <p:spPr>
          <a:xfrm>
            <a:off x="6172200" y="41148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0" name="Pieza Rutas y pantallas círculo"/>
          <p:cNvSpPr/>
          <p:nvPr/>
        </p:nvSpPr>
        <p:spPr>
          <a:xfrm>
            <a:off x="6446520" y="4389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Pieza Rutas y pantallas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526280"/>
            <a:ext cx="292608" cy="292608"/>
          </a:xfrm>
          <a:prstGeom prst="rect">
            <a:avLst/>
          </a:prstGeom>
        </p:spPr>
      </p:pic>
      <p:sp>
        <p:nvSpPr>
          <p:cNvPr id="22" name="Pieza Rutas y pantallas título"/>
          <p:cNvSpPr txBox="1"/>
          <p:nvPr/>
        </p:nvSpPr>
        <p:spPr>
          <a:xfrm>
            <a:off x="6446520" y="510235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Rutas y pantallas</a:t>
            </a:r>
            <a:endParaRPr lang="en-US" sz="1800" dirty="0"/>
          </a:p>
        </p:txBody>
      </p:sp>
      <p:sp>
        <p:nvSpPr>
          <p:cNvPr id="23" name="Pieza Rutas y pantallas texto"/>
          <p:cNvSpPr txBox="1"/>
          <p:nvPr/>
        </p:nvSpPr>
        <p:spPr>
          <a:xfrm>
            <a:off x="6446520" y="551383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/login, /inicio y /usuarios. El menú cambia según el rol.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FRONTEND · PANTALLAS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Inicio de sesión con validaciones</a:t>
            </a:r>
            <a:endParaRPr lang="en-US" sz="3200" dirty="0"/>
          </a:p>
        </p:txBody>
      </p:sp>
      <p:pic>
        <p:nvPicPr>
          <p:cNvPr id="4" name="Captura del login" descr="/tmp/claude-0/-home-claude/9fbcf92b-c261-5d9a-bebc-b0ad23150f66/scratchpad/deck/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394960" cy="320365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pic>
        <p:nvPicPr>
          <p:cNvPr id="5" name="Captura del error 401" descr="/tmp/claude-0/-home-claude/9fbcf92b-c261-5d9a-bebc-b0ad23150f66/scratchpad/deck/2_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394960" cy="320365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Pie login"/>
          <p:cNvSpPr txBox="1"/>
          <p:nvPr/>
        </p:nvSpPr>
        <p:spPr>
          <a:xfrm>
            <a:off x="548640" y="5257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Formulario con correo y contraseña</a:t>
            </a:r>
            <a:endParaRPr lang="en-US" sz="1400" dirty="0"/>
          </a:p>
        </p:txBody>
      </p:sp>
      <p:sp>
        <p:nvSpPr>
          <p:cNvPr id="7" name="Pie error"/>
          <p:cNvSpPr txBox="1"/>
          <p:nvPr/>
        </p:nvSpPr>
        <p:spPr>
          <a:xfrm>
            <a:off x="6217920" y="5257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Contraseña incorrecta: la API responde 401 y se muestra un mensaje claro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FRONTEND · ROLES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Cada rol ve un menú distinto</a:t>
            </a:r>
            <a:endParaRPr lang="en-US" sz="3200" dirty="0"/>
          </a:p>
        </p:txBody>
      </p:sp>
      <p:pic>
        <p:nvPicPr>
          <p:cNvPr id="4" name="Captura inicio Administrador" descr="/tmp/claude-0/-home-claude/9fbcf92b-c261-5d9a-bebc-b0ad23150f66/scratchpad/deck/3_inicio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394960" cy="320365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pic>
        <p:nvPicPr>
          <p:cNvPr id="5" name="Captura inicio Usuario" descr="/tmp/claude-0/-home-claude/9fbcf92b-c261-5d9a-bebc-b0ad23150f66/scratchpad/deck/5_inicio_usua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394960" cy="320365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Pie admin"/>
          <p:cNvSpPr txBox="1"/>
          <p:nvPr/>
        </p:nvSpPr>
        <p:spPr>
          <a:xfrm>
            <a:off x="548640" y="5257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Administrador: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 la opción Usuarios en el menú</a:t>
            </a:r>
            <a:endParaRPr lang="en-US" sz="1400" dirty="0"/>
          </a:p>
        </p:txBody>
      </p:sp>
      <p:sp>
        <p:nvSpPr>
          <p:cNvPr id="7" name="Pie usuario"/>
          <p:cNvSpPr txBox="1"/>
          <p:nvPr/>
        </p:nvSpPr>
        <p:spPr>
          <a:xfrm>
            <a:off x="6217920" y="5257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Usuario: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solo Inicio; si escribe /usuarios, vuelve al inicio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INTEGRACIÓN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 de datos, API y Angular al mismo tiempo</a:t>
            </a:r>
            <a:endParaRPr lang="en-US" sz="3200" dirty="0"/>
          </a:p>
        </p:txBody>
      </p:sp>
      <p:pic>
        <p:nvPicPr>
          <p:cNvPr id="4" name="Captura de VS Code y navegador conectados" descr="/tmp/claude-0/-home-claude/9fbcf92b-c261-5d9a-bebc-b0ad23150f66/scratchpad/deck/06_compl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7406640" cy="4377447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Explicación de la conexión"/>
          <p:cNvSpPr txBox="1"/>
          <p:nvPr/>
        </p:nvSpPr>
        <p:spPr>
          <a:xfrm>
            <a:off x="8321040" y="1920240"/>
            <a:ext cx="3291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dotnet run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API en localhost:5070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npm start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Angular en localhost:4200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API solo acepta peticiones del frontend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DEMOSTRACIÓN EN VIVO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vamos a mostrar</a:t>
            </a:r>
            <a:endParaRPr lang="en-US" sz="3200" dirty="0"/>
          </a:p>
        </p:txBody>
      </p:sp>
      <p:sp>
        <p:nvSpPr>
          <p:cNvPr id="4" name="Demo 1 círculo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Demo 1 número"/>
          <p:cNvSpPr txBox="1"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Demo 1"/>
          <p:cNvSpPr txBox="1"/>
          <p:nvPr/>
        </p:nvSpPr>
        <p:spPr>
          <a:xfrm>
            <a:off x="1325880" y="1920240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Postman  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Sin token → 401. Usuario crea categoría → 403. Administrador → 201.</a:t>
            </a:r>
            <a:endParaRPr lang="en-US" sz="1700" dirty="0"/>
          </a:p>
        </p:txBody>
      </p:sp>
      <p:sp>
        <p:nvSpPr>
          <p:cNvPr id="7" name="Demo 2 círculo"/>
          <p:cNvSpPr/>
          <p:nvPr/>
        </p:nvSpPr>
        <p:spPr>
          <a:xfrm>
            <a:off x="548640" y="27614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Demo 2 número"/>
          <p:cNvSpPr txBox="1"/>
          <p:nvPr/>
        </p:nvSpPr>
        <p:spPr>
          <a:xfrm>
            <a:off x="5486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Demo 2"/>
          <p:cNvSpPr txBox="1"/>
          <p:nvPr/>
        </p:nvSpPr>
        <p:spPr>
          <a:xfrm>
            <a:off x="1325880" y="2761488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Login con error  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Contraseña incorrecta en Angular → "Correo o contraseña incorrectos".</a:t>
            </a:r>
            <a:endParaRPr lang="en-US" sz="1700" dirty="0"/>
          </a:p>
        </p:txBody>
      </p:sp>
      <p:sp>
        <p:nvSpPr>
          <p:cNvPr id="10" name="Demo 3 círculo"/>
          <p:cNvSpPr/>
          <p:nvPr/>
        </p:nvSpPr>
        <p:spPr>
          <a:xfrm>
            <a:off x="548640" y="360273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Demo 3 número"/>
          <p:cNvSpPr txBox="1"/>
          <p:nvPr/>
        </p:nvSpPr>
        <p:spPr>
          <a:xfrm>
            <a:off x="548640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Demo 3"/>
          <p:cNvSpPr txBox="1"/>
          <p:nvPr/>
        </p:nvSpPr>
        <p:spPr>
          <a:xfrm>
            <a:off x="1325880" y="3602736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Login correcto  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Entra al inicio con nombre, rol y saldo de horas. F12: el token guardado.</a:t>
            </a:r>
            <a:endParaRPr lang="en-US" sz="1700" dirty="0"/>
          </a:p>
        </p:txBody>
      </p:sp>
      <p:sp>
        <p:nvSpPr>
          <p:cNvPr id="13" name="Demo 4 círculo"/>
          <p:cNvSpPr/>
          <p:nvPr/>
        </p:nvSpPr>
        <p:spPr>
          <a:xfrm>
            <a:off x="548640" y="44439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Demo 4 número"/>
          <p:cNvSpPr txBox="1"/>
          <p:nvPr/>
        </p:nvSpPr>
        <p:spPr>
          <a:xfrm>
            <a:off x="548640" y="4443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Demo 4"/>
          <p:cNvSpPr txBox="1"/>
          <p:nvPr/>
        </p:nvSpPr>
        <p:spPr>
          <a:xfrm>
            <a:off x="1325880" y="4443984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Roles en pantalla  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Administrador abre Usuarios; un Usuario no ve esa opción.</a:t>
            </a:r>
            <a:endParaRPr lang="en-US" sz="1700" dirty="0"/>
          </a:p>
        </p:txBody>
      </p:sp>
      <p:sp>
        <p:nvSpPr>
          <p:cNvPr id="16" name="Demo 5 círculo"/>
          <p:cNvSpPr/>
          <p:nvPr/>
        </p:nvSpPr>
        <p:spPr>
          <a:xfrm>
            <a:off x="548640" y="52852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Demo 5 número"/>
          <p:cNvSpPr txBox="1"/>
          <p:nvPr/>
        </p:nvSpPr>
        <p:spPr>
          <a:xfrm>
            <a:off x="548640" y="5285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Demo 5"/>
          <p:cNvSpPr txBox="1"/>
          <p:nvPr/>
        </p:nvSpPr>
        <p:spPr>
          <a:xfrm>
            <a:off x="1325880" y="5285232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Cerrar sesión  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El token se revoca en la API y se vuelve al login.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CALIDAD Y VERSIONES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Pruebas y control de versiones</a:t>
            </a:r>
            <a:endParaRPr lang="en-US" sz="3200" dirty="0"/>
          </a:p>
        </p:txBody>
      </p:sp>
      <p:sp>
        <p:nvSpPr>
          <p:cNvPr id="4" name="Tarjeta pruebas fondo"/>
          <p:cNvSpPr/>
          <p:nvPr/>
        </p:nvSpPr>
        <p:spPr>
          <a:xfrm>
            <a:off x="548640" y="19202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Tarjeta pruebas círculo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arjeta pruebas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31720"/>
            <a:ext cx="292608" cy="292608"/>
          </a:xfrm>
          <a:prstGeom prst="rect">
            <a:avLst/>
          </a:prstGeom>
        </p:spPr>
      </p:pic>
      <p:sp>
        <p:nvSpPr>
          <p:cNvPr id="7" name="Tarjeta pruebas título"/>
          <p:cNvSpPr txBox="1"/>
          <p:nvPr/>
        </p:nvSpPr>
        <p:spPr>
          <a:xfrm>
            <a:off x="822960" y="29077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Pruebas automáticas</a:t>
            </a:r>
            <a:endParaRPr lang="en-US" sz="1800" dirty="0"/>
          </a:p>
        </p:txBody>
      </p:sp>
      <p:sp>
        <p:nvSpPr>
          <p:cNvPr id="8" name="Tarjeta pruebas texto"/>
          <p:cNvSpPr txBox="1"/>
          <p:nvPr/>
        </p:nvSpPr>
        <p:spPr>
          <a:xfrm>
            <a:off x="822960" y="3319272"/>
            <a:ext cx="4892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tests/probar-api.ps1 recorre el CRUD y sus errores; tests/probar-login.ps1 prueba registro, login, sesiones y logout.</a:t>
            </a:r>
            <a:endParaRPr lang="en-US" sz="1400" dirty="0"/>
          </a:p>
        </p:txBody>
      </p:sp>
      <p:sp>
        <p:nvSpPr>
          <p:cNvPr id="9" name="Tarjeta Postman fondo"/>
          <p:cNvSpPr/>
          <p:nvPr/>
        </p:nvSpPr>
        <p:spPr>
          <a:xfrm>
            <a:off x="548640" y="41605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Tarjeta Postman círculo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Tarjeta Postma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72000"/>
            <a:ext cx="292608" cy="292608"/>
          </a:xfrm>
          <a:prstGeom prst="rect">
            <a:avLst/>
          </a:prstGeom>
        </p:spPr>
      </p:pic>
      <p:sp>
        <p:nvSpPr>
          <p:cNvPr id="12" name="Tarjeta Postman título"/>
          <p:cNvSpPr txBox="1"/>
          <p:nvPr/>
        </p:nvSpPr>
        <p:spPr>
          <a:xfrm>
            <a:off x="822960" y="514807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Colección de Postman</a:t>
            </a:r>
            <a:endParaRPr lang="en-US" sz="1800" dirty="0"/>
          </a:p>
        </p:txBody>
      </p:sp>
      <p:sp>
        <p:nvSpPr>
          <p:cNvPr id="13" name="Tarjeta Postman texto"/>
          <p:cNvSpPr txBox="1"/>
          <p:nvPr/>
        </p:nvSpPr>
        <p:spPr>
          <a:xfrm>
            <a:off x="822960" y="5559552"/>
            <a:ext cx="4892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Peticiones ordenadas por módulo en docs/TimeBank API, incluidas las de error.</a:t>
            </a:r>
            <a:endParaRPr lang="en-US" sz="1400" dirty="0"/>
          </a:p>
        </p:txBody>
      </p:sp>
      <p:sp>
        <p:nvSpPr>
          <p:cNvPr id="14" name="Título commits"/>
          <p:cNvSpPr txBox="1"/>
          <p:nvPr/>
        </p:nvSpPr>
        <p:spPr>
          <a:xfrm>
            <a:off x="6355080" y="19202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Commits del segundo avance</a:t>
            </a:r>
            <a:endParaRPr lang="en-US" sz="1800" dirty="0"/>
          </a:p>
        </p:txBody>
      </p:sp>
      <p:sp>
        <p:nvSpPr>
          <p:cNvPr id="15" name="Commit ca0889a fondo"/>
          <p:cNvSpPr/>
          <p:nvPr/>
        </p:nvSpPr>
        <p:spPr>
          <a:xfrm>
            <a:off x="6355080" y="2468880"/>
            <a:ext cx="5257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Commit ca0889a"/>
          <p:cNvSpPr txBox="1"/>
          <p:nvPr/>
        </p:nvSpPr>
        <p:spPr>
          <a:xfrm>
            <a:off x="6537960" y="2468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ca0889a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 con JWT y sesiones</a:t>
            </a:r>
            <a:endParaRPr lang="en-US" sz="1400" dirty="0"/>
          </a:p>
        </p:txBody>
      </p:sp>
      <p:sp>
        <p:nvSpPr>
          <p:cNvPr id="17" name="Commit c185dfd fondo"/>
          <p:cNvSpPr/>
          <p:nvPr/>
        </p:nvSpPr>
        <p:spPr>
          <a:xfrm>
            <a:off x="6355080" y="3246120"/>
            <a:ext cx="5257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8" name="Commit c185dfd"/>
          <p:cNvSpPr txBox="1"/>
          <p:nvPr/>
        </p:nvSpPr>
        <p:spPr>
          <a:xfrm>
            <a:off x="6537960" y="3246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c185dfd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Roles, contraseña segura y CRUD protegido</a:t>
            </a:r>
            <a:endParaRPr lang="en-US" sz="1400" dirty="0"/>
          </a:p>
        </p:txBody>
      </p:sp>
      <p:sp>
        <p:nvSpPr>
          <p:cNvPr id="19" name="Commit 488a6cb fondo"/>
          <p:cNvSpPr/>
          <p:nvPr/>
        </p:nvSpPr>
        <p:spPr>
          <a:xfrm>
            <a:off x="6355080" y="4023360"/>
            <a:ext cx="5257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0" name="Commit 488a6cb"/>
          <p:cNvSpPr txBox="1"/>
          <p:nvPr/>
        </p:nvSpPr>
        <p:spPr>
          <a:xfrm>
            <a:off x="6537960" y="40233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488a6cb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Actividad 4.3: frontend conectado a la API</a:t>
            </a:r>
            <a:endParaRPr lang="en-US" sz="1400" dirty="0"/>
          </a:p>
        </p:txBody>
      </p:sp>
      <p:sp>
        <p:nvSpPr>
          <p:cNvPr id="21" name="Commit a392148 fondo"/>
          <p:cNvSpPr/>
          <p:nvPr/>
        </p:nvSpPr>
        <p:spPr>
          <a:xfrm>
            <a:off x="6355080" y="4800600"/>
            <a:ext cx="5257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2" name="Commit a392148"/>
          <p:cNvSpPr txBox="1"/>
          <p:nvPr/>
        </p:nvSpPr>
        <p:spPr>
          <a:xfrm>
            <a:off x="6537960" y="48006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a392148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Actividad 5.3: login en Angular y rutas por rol</a:t>
            </a:r>
            <a:endParaRPr lang="en-US" sz="1400" dirty="0"/>
          </a:p>
        </p:txBody>
      </p:sp>
      <p:sp>
        <p:nvSpPr>
          <p:cNvPr id="23" name="Enlace al repositorio">
            <a:hlinkClick r:id="rId3" tooltip=""/>
          </p:cNvPr>
          <p:cNvSpPr txBox="1"/>
          <p:nvPr/>
        </p:nvSpPr>
        <p:spPr>
          <a:xfrm>
            <a:off x="6355080" y="56235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github.com/edrianlxcid/TimeBank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1031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Siguiente avance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65760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Pantallas para servicios, solicitudes y valoraciones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Registro de usuarios desde Angular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Diseño adaptable a celular y confirmaciones antes de eliminar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Gracias por su atención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Q TimeBank">
  <a:themeElements>
    <a:clrScheme name="ITQ TimeBank">
      <a:dk1>
        <a:srgbClr val="1B2333"/>
      </a:dk1>
      <a:lt1>
        <a:srgbClr val="FFFFFF"/>
      </a:lt1>
      <a:dk2>
        <a:srgbClr val="475467"/>
      </a:dk2>
      <a:lt2>
        <a:srgbClr val="F2F4F7"/>
      </a:lt2>
      <a:accent1>
        <a:srgbClr val="E6333E"/>
      </a:accent1>
      <a:accent2>
        <a:srgbClr val="1B2333"/>
      </a:accent2>
      <a:accent3>
        <a:srgbClr val="0F766E"/>
      </a:accent3>
      <a:accent4>
        <a:srgbClr val="F5B301"/>
      </a:accent4>
      <a:accent5>
        <a:srgbClr val="98A2B3"/>
      </a:accent5>
      <a:accent6>
        <a:srgbClr val="D0D5DD"/>
      </a:accent6>
      <a:hlink>
        <a:srgbClr val="E6333E"/>
      </a:hlink>
      <a:folHlink>
        <a:srgbClr val="B42318"/>
      </a:folHlink>
    </a:clrScheme>
    <a:fontScheme name="ITQ TimeBan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Instituto Superior Tecnológico Quito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TimeBank – Segundo avance</dc:title>
  <dc:subject>PptxGenJS Presentation</dc:subject>
  <dc:creator>Kevin Adrián Quiñonez Rocha y Orlando Eloy Trujillo</dc:creator>
  <cp:lastModifiedBy>Kevin Adrián Quiñonez Rocha y Orlando Eloy Trujillo</cp:lastModifiedBy>
  <cp:revision>1</cp:revision>
  <dcterms:created xsi:type="dcterms:W3CDTF">2026-10-07T18:06:47Z</dcterms:created>
  <dcterms:modified xsi:type="dcterms:W3CDTF">2026-10-07T18:06:47Z</dcterms:modified>
</cp:coreProperties>
</file>